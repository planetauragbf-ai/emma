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371600"/>
            <a:ext cx="5486400" cy="5486400"/>
          </a:xfrm>
          <a:prstGeom prst="ellipse">
            <a:avLst/>
          </a:prstGeom>
          <a:solidFill>
            <a:srgbClr val="1E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566160"/>
            <a:ext cx="2377440" cy="237744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229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PASSAVIN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880360"/>
            <a:ext cx="1097280" cy="8229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8686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Vos vins passent les frontières. Vos commandes passent toutes seules.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8686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E9DFCF"/>
                </a:solidFill>
                <a:latin typeface="Calibri"/>
              </a:rPr>
              <a:t>Pitch investisseurs — 20 minutes · Bloc 3 Euridis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E9DFCF"/>
                </a:solidFill>
                <a:latin typeface="Calibri"/>
              </a:rPr>
              <a:t>[Nom Prénom] · [Promotion] · Nom de travail provisoire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Aucun vin ne circulait sans passavant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14233A"/>
                </a:solidFill>
                <a:latin typeface="Calibri"/>
              </a:rPr>
              <a:t>Au XIXᵉ siècle, le passavant était le laissez-passer des vins.</a:t>
            </a:r>
          </a:p>
          <a:p>
            <a:pPr algn="l"/>
            <a:r>
              <a:rPr sz="2800" b="1" i="0">
                <a:solidFill>
                  <a:srgbClr val="14233A"/>
                </a:solidFill>
                <a:latin typeface="Calibri"/>
              </a:rPr>
              <a:t/>
            </a:r>
          </a:p>
          <a:p>
            <a:pPr algn="l"/>
            <a:r>
              <a:rPr sz="2800" b="1" i="0">
                <a:solidFill>
                  <a:srgbClr val="14233A"/>
                </a:solidFill>
                <a:latin typeface="Calibri"/>
              </a:rPr>
              <a:t>En 2026, une bouteille vendue en ligne de Vérone à Zurich attend encore… une ressaisie.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106070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Passavin : le connecteur neutre qui branche la boutique des domaines européens à plusieurs logisticiens vin.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3 frictions entre vendre et livrer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Pays impossibles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14233A"/>
                </a:solidFill>
                <a:latin typeface="Calibri"/>
              </a:rPr>
              <a:t>proposés au panier, au mauvais prix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4592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12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92608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14233A"/>
                </a:solidFill>
                <a:latin typeface="Calibri"/>
              </a:rPr>
              <a:t>de ressaisie par commande étrangère [hypothèse]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4592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92024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Suivi manuel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92608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14233A"/>
                </a:solidFill>
                <a:latin typeface="Calibri"/>
              </a:rPr>
              <a:t>clients inquiets, incidents par 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4233A"/>
                </a:solidFill>
                <a:latin typeface="Calibri"/>
              </a:rPr>
              <a:t>Et côté logisticien : chaque intégration refaite à la main, ou un plugin maison peu adopté (&lt; 10 installations).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Démonstration : une commande de Vérone vers Zurich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466344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Aujourd'hui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Avec Passavin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Panier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Forfait « Europe » approximatif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Tarif réel du logisticien, pays non livrables masqués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Après paiement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Ressaisie dans le portail du logisticien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Commande transmise automatiquement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Suivi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Numéro recopié à la main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Statuts et mail client automatiques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Changer de logisticien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Tout redévelopper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Un clic : plusieurs logisticiens branchés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5E6673"/>
                </a:solidFill>
                <a:latin typeface="Calibri"/>
              </a:rPr>
              <a:t>Règles d'éligibilité fournies et garanties par les logisticiens · pas d'envoi direct aux particuliers américains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Un marché européen, plus seulement une niche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19 780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E9DFCF"/>
                </a:solidFill>
                <a:latin typeface="Calibri"/>
              </a:rPr>
              <a:t>TAM : domaines qui vendent en ligne (5 pays)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7276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8C2F39"/>
                </a:solidFill>
                <a:latin typeface="Calibri"/>
              </a:rPr>
              <a:t>3 732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4028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SAM : 3 CMS × export aux particuliers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8C2F39"/>
                </a:solidFill>
                <a:latin typeface="Calibri"/>
              </a:rPr>
              <a:t>×4 à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par rapport à la V1 (France, WooCommerce)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4630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57276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8C2F39"/>
                </a:solidFill>
                <a:latin typeface="Calibri"/>
              </a:rPr>
              <a:t>478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SOM fin 2029 (13 % du SAM)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2918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2880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France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Italie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Espagne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Allemagne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SAM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2 040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945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409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Domaines M36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289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Canal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Sales + réseau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Sales + réseau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Sales ES-PT + réseau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Réseau seul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Réseau seul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Sources : ICQRF, INE, Destatis, FranceAgriMer, Afnic, WMTips 2026 ; parts d'export = hypothèses à mesurer.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CONCURRENCE &amp; 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L'idée existe… et personne n'est neutre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Acteur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Limite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Hillebrand Gori eShipping (DHL)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Mono-logisticien, &lt; 10 installations WooCommerce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MBE Wine for Europe (2026)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Mono-réseau → client Partner potentiel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VinTrail, Tannico WinePlatform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Remplacent la boutique du domaine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Sendcloud, Packlink, Boxtal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Alcool international mal couvert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USP : le connecteur NEUTRE qui branche votre boutique à PLUSIEURS logisticiens vin.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Deux offres, un seul moteur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8C2F39"/>
                </a:solidFill>
                <a:latin typeface="Calibri"/>
              </a:rPr>
              <a:t>DIRECT · domaines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49 / 99 / 199 €/mois (ARPA 94 €)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Installation 490 €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1,50 €/expédition payé par le logisticien (à valider)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2029 : 559 k€ de 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72768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2A7F87"/>
                </a:solidFill>
                <a:latin typeface="Calibri"/>
              </a:rPr>
              <a:t>PARTNER · logisticiens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Licence 690 à 2 490 €/mois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Mise en place 4 à 12 k€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0,40 à 0,60 €/expédition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2029 : 90 k€ de CA, 4 licences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9028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6 591 €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E9DFCF"/>
                </a:solidFill>
                <a:latin typeface="Calibri"/>
              </a:rPr>
              <a:t>LTV d'un domaine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4805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59028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8C2F39"/>
                </a:solidFill>
                <a:latin typeface="Calibri"/>
              </a:rPr>
              <a:t>1 079 €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25780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CAC 2029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4805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59028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8C2F39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5780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LTV / CAC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44805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59028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8C2F39"/>
                </a:solidFill>
                <a:latin typeface="Calibri"/>
              </a:rPr>
              <a:t>69 k€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525780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coût d'un plugin maison pour un logisticien (1ʳᵉ année, 2 CMS)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GO-TO-MARKET EUROPE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Un pays et un CMS à la fois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08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554480"/>
            <a:ext cx="1783080" cy="640080"/>
          </a:xfrm>
          <a:prstGeom prst="homePlate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1783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4233A"/>
                </a:solidFill>
                <a:latin typeface="Calibri"/>
              </a:rPr>
              <a:t>France · WooCommerce · 32 domaines</a:t>
            </a:r>
          </a:p>
        </p:txBody>
      </p:sp>
      <p:sp>
        <p:nvSpPr>
          <p:cNvPr id="10" name="Chevron 9"/>
          <p:cNvSpPr/>
          <p:nvPr/>
        </p:nvSpPr>
        <p:spPr>
          <a:xfrm>
            <a:off x="2441448" y="1554480"/>
            <a:ext cx="178308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155448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267712"/>
            <a:ext cx="1783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4233A"/>
                </a:solidFill>
                <a:latin typeface="Calibri"/>
              </a:rPr>
              <a:t>Seed 750 k€</a:t>
            </a:r>
          </a:p>
        </p:txBody>
      </p:sp>
      <p:sp>
        <p:nvSpPr>
          <p:cNvPr id="13" name="Chevron 12"/>
          <p:cNvSpPr/>
          <p:nvPr/>
        </p:nvSpPr>
        <p:spPr>
          <a:xfrm>
            <a:off x="4334255" y="1554480"/>
            <a:ext cx="1783080" cy="640080"/>
          </a:xfrm>
          <a:prstGeom prst="chevron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5" y="155448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M17-M18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5" y="2267712"/>
            <a:ext cx="1783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4233A"/>
                </a:solidFill>
                <a:latin typeface="Calibri"/>
              </a:rPr>
              <a:t>Italie · Shopify</a:t>
            </a:r>
          </a:p>
        </p:txBody>
      </p:sp>
      <p:sp>
        <p:nvSpPr>
          <p:cNvPr id="16" name="Chevron 15"/>
          <p:cNvSpPr/>
          <p:nvPr/>
        </p:nvSpPr>
        <p:spPr>
          <a:xfrm>
            <a:off x="6227063" y="1554480"/>
            <a:ext cx="178308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3" y="155448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3" y="2267712"/>
            <a:ext cx="1783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4233A"/>
                </a:solidFill>
                <a:latin typeface="Calibri"/>
              </a:rPr>
              <a:t>Espagne-Portugal</a:t>
            </a:r>
          </a:p>
        </p:txBody>
      </p:sp>
      <p:sp>
        <p:nvSpPr>
          <p:cNvPr id="19" name="Chevron 18"/>
          <p:cNvSpPr/>
          <p:nvPr/>
        </p:nvSpPr>
        <p:spPr>
          <a:xfrm>
            <a:off x="8119871" y="1554480"/>
            <a:ext cx="1783080" cy="640080"/>
          </a:xfrm>
          <a:prstGeom prst="chevron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55448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2267712"/>
            <a:ext cx="1783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4233A"/>
                </a:solidFill>
                <a:latin typeface="Calibri"/>
              </a:rPr>
              <a:t>PrestaShop</a:t>
            </a:r>
          </a:p>
        </p:txBody>
      </p:sp>
      <p:sp>
        <p:nvSpPr>
          <p:cNvPr id="22" name="Chevron 21"/>
          <p:cNvSpPr/>
          <p:nvPr/>
        </p:nvSpPr>
        <p:spPr>
          <a:xfrm>
            <a:off x="10012680" y="1554480"/>
            <a:ext cx="178308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155448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2029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267712"/>
            <a:ext cx="1783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4233A"/>
                </a:solidFill>
                <a:latin typeface="Calibri"/>
              </a:rPr>
              <a:t>478 domaines + 137 en marque blanche</a:t>
            </a:r>
          </a:p>
        </p:txBody>
      </p:sp>
      <p:pic>
        <p:nvPicPr>
          <p:cNvPr id="25" name="Picture 24" descr="p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429000"/>
            <a:ext cx="5238654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Une équipe construite par jalons : 3 → 9 →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8C2F39"/>
                </a:solidFill>
                <a:latin typeface="Calibri"/>
              </a:rP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5468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Dirigeant·e (commercial transport de vin)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Lead dev / CTO (M10)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Sales France (M10)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572768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8C2F39"/>
                </a:solidFill>
                <a:latin typeface="Calibri"/>
              </a:rPr>
              <a:t>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15468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Partner manager, alternant·e, dév. Shopify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Customer success FR/EN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Sales Italie, Sales ES-PT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572768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8C2F39"/>
                </a:solidFill>
                <a:latin typeface="Calibri"/>
              </a:rPr>
              <a:t>2029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011680"/>
            <a:ext cx="315468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Customer success IT/ES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Dév. marque blanche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Réseau : 27 agences, 20 apporteurs, 4 logisticiens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106070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Mon apport : le terrain et les logisticiens. Ce qui manque : un·e CTO (priorité n°1). Aucun recrutement sans jalon ni 6 mois de trésorerie.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MANAGEMENT —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L'équipe commerciale : objectifs et rémunération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657600"/>
                <a:gridCol w="41148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Poste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Objectif 2029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Rémunération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Sales France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80 domaines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32 k€ + 15 % de la 1ʳᵉ année signée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Sales Italie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64 domaines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Idem (Employer of Record)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Sales Espagne &amp; Portugal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50 domaines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Idem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Partner manager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27 agences, 4 licences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38 k€ + 1 500 €/licence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Customer success ×2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Résiliation ≤ 1,5 %/mois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4233A"/>
                          </a:solidFill>
                          <a:latin typeface="Calibri"/>
                        </a:rPr>
                        <a:t>32 k€ dont prime de rétention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E6673"/>
                </a:solidFill>
                <a:latin typeface="Calibri"/>
              </a:rPr>
              <a:t>Variable récupéré si le client part avant 3 mois · BSPCE · OKR trimestriels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MANAGEMENT —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Le réseau : trois leviers externes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2A7F87"/>
                </a:solidFill>
                <a:latin typeface="Calibri"/>
              </a:rPr>
              <a:t>27 agences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Silver : 20 % récurrent à vie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Gold : 25 % + co-marketing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134 domaines sur 3 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572768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2A7F87"/>
                </a:solidFill>
                <a:latin typeface="Calibri"/>
              </a:rPr>
              <a:t>20 apporteurs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Consultants, œnologues, syndicats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250 € par domaine actif à 3 mois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72 domaines sur 3 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572768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2A7F87"/>
                </a:solidFill>
                <a:latin typeface="Calibri"/>
              </a:rPr>
              <a:t>4 logisticiens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0116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Revendeurs en marque blanche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≥ 40 domaines activés/an chacun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137 domaines à M36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106070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Recrutés, certifiés, animés (CRM, revues trimestrielles, challenges) — et désactivés sans coût s'ils ne produisent 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MANAGEMENT —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Manager à distance, dans 5 pays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5760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47472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Style situationnel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Pour qui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Directif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Alternant·e, sales en rampe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Persuasif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Sales IT/ES, 6 premiers mois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Participatif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Customer success, devs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Délégatif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Sales FR confirmé·e, PM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0" y="1463040"/>
            <a:ext cx="50292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572768"/>
            <a:ext cx="4663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A7F87"/>
                </a:solidFill>
                <a:latin typeface="Calibri"/>
              </a:rPr>
              <a:t>Rituels &amp; outils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46634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Revue de pipeline hebdo, 1:1 hebdo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OKR trimestriels reliés au BP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CRM HubSpot + tableau de bord Metabase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• Challenges : « Pro d'abord », Partenaire de l'année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106070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Sous-performance : diagnostic → plan de 60 jours → bilan. Des objectifs réalistes et connus à l'avance.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Démonstration 1 : le BP sort des ressources commerciales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492240" cy="3426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551 domaines signés sur 3 ans, chacun attribué à une ressource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Productivité × part du vivier couverte par les CMS (47 % → 65 % → 100 %)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Rampe de 3-4 mois, saturation du SAM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4233A"/>
                </a:solidFill>
                <a:latin typeface="Calibri"/>
              </a:rPr>
              <a:t>• Embauche = jalon + 6 mois de trésorerie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4233A"/>
                </a:solidFill>
                <a:latin typeface="Calibri"/>
              </a:rPr>
              <a:t>• CA = domaines × 94 € + licences : rien sans ressource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Compte de résultat —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ca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40" cy="311704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46304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60120"/>
                <a:gridCol w="960120"/>
                <a:gridCol w="10058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2029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27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232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649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−91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−332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−196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Revenu récurrent annualisé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42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284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725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3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4480560"/>
            <a:ext cx="4754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4233A"/>
                </a:solidFill>
                <a:latin typeface="Calibri"/>
              </a:rPr>
              <a:t>Marge brute 92 % · LTV/CAC ≈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SCÉNARIOS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Point mort : M38, pas M36 — et ce qu'il faudrait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ebitda_mensu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40" cy="320866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46304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Scénario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Point mort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Pessimiste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non atteint → pivot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4233A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4233A"/>
                          </a:solidFill>
                          <a:latin typeface="Calibri"/>
                        </a:rPr>
                        <a:t>M38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Optimiste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33A"/>
                          </a:solidFill>
                          <a:latin typeface="Calibri"/>
                        </a:rPr>
                        <a:t>M32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0" y="3703320"/>
            <a:ext cx="4754880" cy="2194560"/>
          </a:xfrm>
          <a:prstGeom prst="roundRect">
            <a:avLst>
              <a:gd name="adj" fmla="val 8000"/>
            </a:avLst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3703320"/>
            <a:ext cx="42976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M36 atteint avec : ARPA 99 € (Pro par défaut) + une 5ᵉ licence à M30. Je pilote ces deux leviers.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BESOIN FINANCIER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890 k€ en deux temps, la seed sous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32004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140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2004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E9DFCF"/>
                </a:solidFill>
                <a:latin typeface="Calibri"/>
              </a:rPr>
              <a:t>pré-amorçage : apport, prêt d'honneur, BPI, banque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72768"/>
            <a:ext cx="32004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8C2F39"/>
                </a:solidFill>
                <a:latin typeface="Calibri"/>
              </a:rPr>
              <a:t>750 k€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40280"/>
            <a:ext cx="32004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seed à M12 : 550 k€ de fonds propres + 200 k€ de prêt BPI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72768"/>
            <a:ext cx="32004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8C2F39"/>
                </a:solidFill>
                <a:latin typeface="Calibri"/>
              </a:rPr>
              <a:t>18-22 %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32004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de dilution (valorisation avant levée de 2-2,5 M€)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291840"/>
          <a:ext cx="110642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03120"/>
                <a:gridCol w="2103120"/>
                <a:gridCol w="2377440"/>
                <a:gridCol w="201168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Conditions GO seed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≥ 25 domaines payants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≥ 2 logisticiens intégrés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≥ 1 lettre d'intention de licence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Résiliation ≤ 2 %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448056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14233A"/>
                </a:solidFill>
                <a:latin typeface="Calibri"/>
              </a:rPr>
              <a:t>Affectation : équipe commerciale et réseau 45 % · produit 30 % · marketing Europe 10 % · customer success 5 % · juridique 3 % · réserve 7 %</a:t>
            </a:r>
          </a:p>
          <a:p>
            <a:pPr algn="l"/>
            <a:r>
              <a:rPr sz="1500" b="0" i="0">
                <a:solidFill>
                  <a:srgbClr val="14233A"/>
                </a:solidFill>
                <a:latin typeface="Calibri"/>
              </a:rPr>
              <a:t>Trésorerie à M36 : 181 k€ → pas de nouvelle levée nécessaire pour survivre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RISQUES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Démonstration 2 : risques évalués et justifiés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097280"/>
                <a:gridCol w="5394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Risque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P×I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Parade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Les domaines ne paient pas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8 pré-ventes avant le MVP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Seed non obtenue à M12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Jalons publics, relais BPI, sinon plan V1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Ouverture IT/ES plus lente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Recrutement par jalons, rampe de 4 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Hypothèses IT/ES non mesurées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18 entretiens avant le recrutement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Concurrent gratuit (logisticien)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Neutralité ; en faire un client Partner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Agences peu actives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Commission à vie, Gold ; sinon 2ᵉ sales FR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C2F39"/>
                </a:solidFill>
                <a:latin typeface="Calibri"/>
              </a:rPr>
              <a:t>17 risques notés · 5 critiques, aucun technique · règle automatique : pas d'embauche sous 6 mois de trésorerie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TABLEAUX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Démonstration 3 : le tableau de bord = les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91840"/>
                <a:gridCol w="2377440"/>
                <a:gridCol w="246888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Objectif 2029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Responsable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Si écart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348 nouveaux domaines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Signatures par sales (hebdo)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Chaque sales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Plan de 60 jours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478 domaines actifs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Résiliation ≤ 1,5 %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Customer success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Entretien de départ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27 agences actives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Domaines via agences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Partner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Gold, recrutement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4 licences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Licences signées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Dirigeant + PM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Revoir l'offre Partner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Point mort M38 → M36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ARPA (99 €), 5ᵉ licence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Dirigeant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Pro par défaut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5E6673"/>
                </a:solidFill>
                <a:latin typeface="Calibri"/>
              </a:rPr>
              <a:t>26 KPI · cibles lues dans le même modèle que le BP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Ce qui reste à prouver — seuils fixés avant les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657600"/>
                <a:gridCol w="283464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STOP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Pré-ventes avec acompte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≥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&lt;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Logisticiens prêts à signer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≥ 2 (dont 1 hors Planet Aura)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0 hors Planet Aura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Prix acceptable médian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≥ 49 €/mois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&lt; 25 €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Temps de ressaisie par commande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≥ 8 min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&lt; 4 min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Entretiens en Italie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≥ 3 caves prêtes à tester sur 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423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8C2F39"/>
                </a:solidFill>
                <a:latin typeface="Calibri"/>
              </a:rPr>
              <a:t>Vos vins passent les frontières. Vos commandes passent toutes seules.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SYNTHÈSE ET DEMANDE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En résumé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Pitch soutenance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4233A"/>
                </a:solidFill>
                <a:latin typeface="Calibri"/>
              </a:rPr>
              <a:t>• Un vrai irritant, sur un marché européen : 3 732 domaines adressables dans 5 pays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4233A"/>
                </a:solidFill>
                <a:latin typeface="Calibri"/>
              </a:rPr>
              <a:t>• Deux offres sur un seul moteur : Direct (domaines) et Partner (logisticiens)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4233A"/>
                </a:solidFill>
                <a:latin typeface="Calibri"/>
              </a:rPr>
              <a:t>• Une équipe et un réseau qui produisent chaque euro : 11 personnes, 27 agences, 20 apporteurs, 4 logisticiens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4233A"/>
                </a:solidFill>
                <a:latin typeface="Calibri"/>
              </a:rPr>
              <a:t>• 725 k€ de revenu récurrent annualisé en 2029 ; point mort M38, M36 avec deux leviers pilotés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4233A"/>
                </a:solidFill>
                <a:latin typeface="Calibri"/>
              </a:rPr>
              <a:t>• Des seuils GO / STOP fixés avant les résultats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Notre demande : 750 k€ à M12, seulement si les jalons de traction sont atteints.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