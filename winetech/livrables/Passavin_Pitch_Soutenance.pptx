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1371600"/>
            <a:ext cx="5486400" cy="5486400"/>
          </a:xfrm>
          <a:prstGeom prst="ellipse">
            <a:avLst/>
          </a:prstGeom>
          <a:solidFill>
            <a:srgbClr val="1E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3566160"/>
            <a:ext cx="2377440" cy="2377440"/>
          </a:xfrm>
          <a:prstGeom prst="ellipse">
            <a:avLst/>
          </a:prstGeom>
          <a:solidFill>
            <a:srgbClr val="8C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PASSAVIN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971800"/>
            <a:ext cx="1097280" cy="82296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8686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Vos vins passent les frontières. Vos commandes passent toutes seules.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E9DFCF"/>
                </a:solidFill>
                <a:latin typeface="Calibri"/>
              </a:rPr>
              <a:t>Pitch investisseurs — 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E9DFCF"/>
                </a:solidFill>
                <a:latin typeface="Calibri"/>
              </a:rPr>
              <a:t>[Nom Prénom] · [Promotion] · Nom de travail provisoire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POURQUOI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Aucun vin ne circulait sans passavant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14233A"/>
                </a:solidFill>
                <a:latin typeface="Calibri"/>
              </a:rPr>
              <a:t>Au XIXᵉ siècle, le passavant était le laissez-passer des vins.</a:t>
            </a:r>
          </a:p>
          <a:p>
            <a:pPr algn="l"/>
            <a:r>
              <a:rPr sz="2600" b="1" i="0">
                <a:solidFill>
                  <a:srgbClr val="14233A"/>
                </a:solidFill>
                <a:latin typeface="Calibri"/>
              </a:rPr>
              <a:t/>
            </a:r>
          </a:p>
          <a:p>
            <a:pPr algn="l"/>
            <a:r>
              <a:rPr sz="2600" b="1" i="0">
                <a:solidFill>
                  <a:srgbClr val="14233A"/>
                </a:solidFill>
                <a:latin typeface="Calibri"/>
              </a:rPr>
              <a:t>En 2026, une commande de vin vendue en ligne à l'étranger attend encore… une ressaisie.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062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315968"/>
            <a:ext cx="32004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≈ 12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79"/>
            <a:ext cx="32004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E9DFCF"/>
                </a:solidFill>
                <a:latin typeface="Calibri"/>
              </a:rPr>
              <a:t>par commande étrangère ressaisie [hypothèse à mesurer]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2062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315968"/>
            <a:ext cx="32004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21 %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983479"/>
            <a:ext cx="32004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des vignerons vendent en ligne (Afnic 2025)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42062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315968"/>
            <a:ext cx="32004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−8 %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983479"/>
            <a:ext cx="32004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export vins &amp; spiritueux 2025 (FEVS)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3 frictions entre vendre et livrer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8C2F39"/>
                </a:solidFill>
                <a:latin typeface="Calibri"/>
              </a:rPr>
              <a:t>Pays impossibles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14233A"/>
                </a:solidFill>
                <a:latin typeface="Calibri"/>
              </a:rPr>
              <a:t>proposés au panier, ports faux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64592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182880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8C2F39"/>
                </a:solidFill>
                <a:latin typeface="Calibri"/>
              </a:rPr>
              <a:t>Ressaisie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56032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14233A"/>
                </a:solidFill>
                <a:latin typeface="Calibri"/>
              </a:rPr>
              <a:t>de chaque commande chez le logisticien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64592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182880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8C2F39"/>
                </a:solidFill>
                <a:latin typeface="Calibri"/>
              </a:rPr>
              <a:t>Suivi manuel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56032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14233A"/>
                </a:solidFill>
                <a:latin typeface="Calibri"/>
              </a:rPr>
              <a:t>copié-collé, clients inquiets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805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80560"/>
            <a:ext cx="106070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Les génériques (Packlink, FedEx…) excluent l'alcool international. Les logisticiens vin intègrent au cas par cas.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Passavin : la boutique branchée aux logisticiens vin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04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737360"/>
            <a:ext cx="2148840" cy="640080"/>
          </a:xfrm>
          <a:prstGeom prst="homePlate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37360"/>
            <a:ext cx="16916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Checkout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50591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4233A"/>
                </a:solidFill>
                <a:latin typeface="Calibri"/>
              </a:rPr>
              <a:t>Destinations livrables, tarif réel</a:t>
            </a:r>
          </a:p>
        </p:txBody>
      </p:sp>
      <p:sp>
        <p:nvSpPr>
          <p:cNvPr id="10" name="Chevron 9"/>
          <p:cNvSpPr/>
          <p:nvPr/>
        </p:nvSpPr>
        <p:spPr>
          <a:xfrm>
            <a:off x="2807208" y="1737360"/>
            <a:ext cx="2148840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1737360"/>
            <a:ext cx="16916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Contrôle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2450591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4233A"/>
                </a:solidFill>
                <a:latin typeface="Calibri"/>
              </a:rPr>
              <a:t>Anomalies détectées</a:t>
            </a:r>
          </a:p>
        </p:txBody>
      </p:sp>
      <p:sp>
        <p:nvSpPr>
          <p:cNvPr id="13" name="Chevron 12"/>
          <p:cNvSpPr/>
          <p:nvPr/>
        </p:nvSpPr>
        <p:spPr>
          <a:xfrm>
            <a:off x="5065776" y="1737360"/>
            <a:ext cx="2148840" cy="640080"/>
          </a:xfrm>
          <a:prstGeom prst="chevron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0096" y="1737360"/>
            <a:ext cx="16916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Transmission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5776" y="2450591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4233A"/>
                </a:solidFill>
                <a:latin typeface="Calibri"/>
              </a:rPr>
              <a:t>Commande envoyée au logisticien</a:t>
            </a:r>
          </a:p>
        </p:txBody>
      </p:sp>
      <p:sp>
        <p:nvSpPr>
          <p:cNvPr id="16" name="Chevron 15"/>
          <p:cNvSpPr/>
          <p:nvPr/>
        </p:nvSpPr>
        <p:spPr>
          <a:xfrm>
            <a:off x="7324344" y="1737360"/>
            <a:ext cx="2148840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8664" y="1737360"/>
            <a:ext cx="16916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Suivi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4344" y="2450591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4233A"/>
                </a:solidFill>
                <a:latin typeface="Calibri"/>
              </a:rPr>
              <a:t>Statuts + mail client</a:t>
            </a:r>
          </a:p>
        </p:txBody>
      </p:sp>
      <p:sp>
        <p:nvSpPr>
          <p:cNvPr id="19" name="Chevron 18"/>
          <p:cNvSpPr/>
          <p:nvPr/>
        </p:nvSpPr>
        <p:spPr>
          <a:xfrm>
            <a:off x="9582912" y="1737360"/>
            <a:ext cx="2148840" cy="640080"/>
          </a:xfrm>
          <a:prstGeom prst="chevron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2" y="1737360"/>
            <a:ext cx="16916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Pilotage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2912" y="2450591"/>
            <a:ext cx="2148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4233A"/>
                </a:solidFill>
                <a:latin typeface="Calibri"/>
              </a:rPr>
              <a:t>Délais, coûts, incidents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3192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931920"/>
            <a:ext cx="10607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Extension WooCommerce + moteur cloud · multi-logisticiens · neutre · installée en 1 heure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120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E6673"/>
                </a:solidFill>
                <a:latin typeface="Calibri"/>
              </a:rPr>
              <a:t>Ne promet pas la conformité automatique : règles garanties par chaque logisticien. Pas d'envoi direct aux particuliers américains.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PRODUIT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Démonstration : une commande vers la Suisse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466344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Étape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Avant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Avec Passavin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Panier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Forfait « Europe » approximatif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Tarif du logisticien, pays non livrables masqués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Commande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Ressaisie dans le portail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Transmise automatiquement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Suivi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Copié à la main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Remonte seul, mail client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Temps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≈ 12 min [hyp.]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&lt; 1 min (objectif)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E6673"/>
                </a:solidFill>
                <a:latin typeface="Calibri"/>
              </a:rPr>
              <a:t>Maquette cliquable présentée en direct (à produire en phase 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MARCHÉ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Un marché de niche, assumé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64207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5-9 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E9DFCF"/>
                </a:solidFill>
                <a:latin typeface="Calibri"/>
              </a:rPr>
              <a:t>TAM : domaines vendant en ligne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664207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8C2F39"/>
                </a:solidFill>
                <a:latin typeface="Calibri"/>
              </a:rPr>
              <a:t>500-950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3172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SAM WooCommerce + export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64207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8C2F39"/>
                </a:solidFill>
                <a:latin typeface="Calibri"/>
              </a:rPr>
              <a:t>1,3-2,4 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3172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SAM avec Shopify/PrestaShop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5544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664207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8C2F39"/>
                </a:solidFill>
                <a:latin typeface="Calibri"/>
              </a:rPr>
              <a:t>170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33172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SOM fin 2029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6616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566160"/>
            <a:ext cx="10607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Point mort ≈ 210 clients = 20-40 % du SAM WooCommerce → multi-CMS en an 2-3, agences et logisticiens comme canaux, Italie-Espagne ensuite.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CONCURRENCE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L'idée existe… et n'a pas gagné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657600"/>
                <a:gridCol w="411480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Acteur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Force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Hillebrand Gori eShipping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Plugin Woo + API, groupe DHL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Mono-logisticien, &lt; 10 installations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Sendcloud, Boxtal, Packlink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Matures, pas chers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Alcool international mal couvert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VinTrail, Baqio, Wineriz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Tout-en-un vin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Remplacent la boutique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Agences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Relation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Sur-mesure non maintenu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USP : le seul positionnement neutre et multi-logisticiens — pas « le seul plugin vin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Un modèle à deux 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64207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49-199 €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E9DFCF"/>
                </a:solidFill>
                <a:latin typeface="Calibri"/>
              </a:rPr>
              <a:t>abonnement mensuel domaine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664207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490 €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3172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installation accompagnée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64207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1,50 €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3172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par expédition, payé par le logisticien (à valider)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55448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664207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≈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33172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LTV / CAC en an 3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3474720"/>
          <a:ext cx="11064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Contribution / client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CAC an 3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Churn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114 €/mois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82-92 %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1 271 €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1,5 %/mois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STRATÉGIE COMMERCIALE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Aller chercher les 170 premiers 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926080"/>
                <a:gridCol w="301752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2029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Nouveaux clients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Canal principal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CEO + pilotes + salons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+ alternant·e + 3 agences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+ business developer + 8 agences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Logisticiens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2-3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≥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12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30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45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2A7F87"/>
                </a:solidFill>
                <a:latin typeface="Calibri"/>
              </a:rPr>
              <a:t>Cycle 6-8 semaines · 100 prospects → 3,6 clients · démo chronométrée « avant / après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Équipe et organisation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937760"/>
                <a:gridCol w="2286000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Qui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Quand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CEO — vente, partenariats, produit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[Nom Prénom], commercial transport de vin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M0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CTO / associé·e technique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4233A"/>
                          </a:solidFill>
                          <a:latin typeface="Calibri"/>
                        </a:rPr>
                        <a:t>À trouver — priorité n°1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≤ M6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Développeur·se full-stack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Recrutement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M13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Alternant·e marketing-sales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Recrutement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M13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Business developer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Si MRR ≥ 7 k€ et ≥ 80 clients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M25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5E6673"/>
                </a:solidFill>
                <a:latin typeface="Calibri"/>
              </a:rPr>
              <a:t>Management : hebdo pipeline · sprints 2 sem. · OKR trimestriels · variable sur MRR net · BSPCE 10 %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BUSINESS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Démonstration 1 : le BP découle des objectifs commerciaux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075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4233A"/>
                </a:solidFill>
                <a:latin typeface="Calibri"/>
              </a:rPr>
              <a:t>• Chaque client du BP a une ressource qui le produit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233A"/>
                </a:solidFill>
                <a:latin typeface="Calibri"/>
              </a:rPr>
              <a:t>• ≈ 4 signatures/mois par commercial (20 démos × 20 %)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233A"/>
                </a:solidFill>
                <a:latin typeface="Calibri"/>
              </a:rPr>
              <a:t>• Clients(m) = Clients(m−1) × 98,5 % + Nouveaux(m)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233A"/>
                </a:solidFill>
                <a:latin typeface="Calibri"/>
              </a:rPr>
              <a:t>• Recrutements déclenchés par jalons, pas par calendrier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BUSINESS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Compte de résultat — central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ca_ebit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285408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1463040"/>
          <a:ext cx="50292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1188720"/>
                <a:gridCol w="118872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k€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2029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22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115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230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20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98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189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-58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-88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-98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ARR fin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23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90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33A"/>
                          </a:solidFill>
                          <a:latin typeface="Calibri"/>
                        </a:rPr>
                        <a:t>181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0" y="4754880"/>
            <a:ext cx="5029200" cy="1097280"/>
          </a:xfrm>
          <a:prstGeom prst="roundRect">
            <a:avLst>
              <a:gd name="adj" fmla="val 8000"/>
            </a:avLst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4754880"/>
            <a:ext cx="457200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Pas rentable sur 3 ans. Point mort ≈ M40-42, ~210 clients.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BUSINESS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Scénarios et seuil de rentabilité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tresor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017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55448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4233A"/>
                </a:solidFill>
                <a:latin typeface="Calibri"/>
              </a:rPr>
              <a:t>• Pessimiste : 81 clients, pas de point mort → arrêt / pivot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233A"/>
                </a:solidFill>
                <a:latin typeface="Calibri"/>
              </a:rPr>
              <a:t>• Central : 170 clients, point mort ≈ M40-42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233A"/>
                </a:solidFill>
                <a:latin typeface="Calibri"/>
              </a:rPr>
              <a:t>• Optimiste : 273 clients, point mort M28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233A"/>
                </a:solidFill>
                <a:latin typeface="Calibri"/>
              </a:rPr>
              <a:t>• Sans revenu logisticien : 284 clients nécessaires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BESOIN FINANCIER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320 k€ en deux tranches conditionnées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64207"/>
            <a:ext cx="32004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120 k€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32004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E9DFCF"/>
                </a:solidFill>
                <a:latin typeface="Calibri"/>
              </a:rPr>
              <a:t>tranche 1 : apport, prêt d'honneur, BPI, banque — validation + MVP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544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664207"/>
            <a:ext cx="32004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8C2F39"/>
                </a:solidFill>
                <a:latin typeface="Calibri"/>
              </a:rPr>
              <a:t>200 k€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004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seed M15-M18 si ≥ 20 clients, MRR ≥ 1,8 k€, churn ≤ 2 %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5544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664207"/>
            <a:ext cx="32004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8C2F39"/>
                </a:solidFill>
                <a:latin typeface="Calibri"/>
              </a:rPr>
              <a:t>40 %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331720"/>
            <a:ext cx="320040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produit · 30 % commercial · 15 % marketing · 15 % juridique &amp; réserve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RISQUES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Démonstration 2 : risques évalués et justifiés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097280"/>
                <a:gridCol w="585216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Risque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Crit.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Parade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Les domaines ne paient pas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Pré-ventes avec acompte avant de coder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Trésorerie avant la seed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Levée dès M12, embauches par jalons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Concurrent gratuit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Neutralité multi-logisticiens, agences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Pas de CTO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Equity, CTO temps partagé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Retrait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Préavis 6 mois, ≥ 3 logisticiens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Conflit employeur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Avocat, accord écrit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TABLEAUX DE BORD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Démonstration 3 : tableau de bord = 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2377440"/>
                <a:gridCol w="2834640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Objectif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KPI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Cible 2029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Si écart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108 nouveaux clients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Nouveaux clients (hebdo)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9/mois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Canaux, agences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170 clients actifs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Churn (mensuel)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≤ 1,5 %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Entretien de départ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181 k€ ARR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MRR, ARPA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15,1 k€ · ≥ 85 €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Upsell Pro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35 % via agences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Part agences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35 %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Commission Gold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Point mort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EBITDA, runway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≥ 6 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33A"/>
                          </a:solidFill>
                          <a:latin typeface="Calibri"/>
                        </a:rPr>
                        <a:t>Gel / levée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Les seuils sont fixés avant les 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657600"/>
                <a:gridCol w="283464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Pré-ventes avec acompte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≥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&lt;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Logisticiens prêts à signer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≥ 2 (dont 1 hors Planet Aura)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0 hors Planet Aura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Prix acceptable médian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≥ 49 €/mois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&lt; 25 €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Temps par commande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≥ 8 min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233A"/>
                          </a:solidFill>
                          <a:latin typeface="Calibri"/>
                        </a:rPr>
                        <a:t>&lt; 4 min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3 mois · &lt; 8 k€ · 25 domaines, 5 agences, 4 logisticiens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INDÉPENDANCE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Indépendant de Planet Aura, partenaire possible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4233A"/>
                </a:solidFill>
                <a:latin typeface="Calibri"/>
              </a:rPr>
              <a:t>• Société, code, marque et données détenus par Passavin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4233A"/>
                </a:solidFill>
                <a:latin typeface="Calibri"/>
              </a:rPr>
              <a:t>• Partenariat non exclusif, neutralité d'affichage, préavis 6 mois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4233A"/>
                </a:solidFill>
                <a:latin typeface="Calibri"/>
              </a:rPr>
              <a:t>• Les intégrations Planet Aura ne sont pas nos clients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4233A"/>
                </a:solidFill>
                <a:latin typeface="Calibri"/>
              </a:rPr>
              <a:t>• Contrat de travail du porteur relu par un avocat avant création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4233A"/>
                </a:solidFill>
                <a:latin typeface="Calibri"/>
              </a:rPr>
              <a:t>• ≥ 2 logisticiens avant la seed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ÉTAPES CLÉS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Feuille de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19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828800" cy="640080"/>
          </a:xfrm>
          <a:prstGeom prst="homePlate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28800"/>
            <a:ext cx="13716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Nov.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42032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14233A"/>
                </a:solidFill>
                <a:latin typeface="Calibri"/>
              </a:rPr>
              <a:t>Sécuriser</a:t>
            </a:r>
          </a:p>
        </p:txBody>
      </p:sp>
      <p:sp>
        <p:nvSpPr>
          <p:cNvPr id="10" name="Chevron 9"/>
          <p:cNvSpPr/>
          <p:nvPr/>
        </p:nvSpPr>
        <p:spPr>
          <a:xfrm>
            <a:off x="2487168" y="1828800"/>
            <a:ext cx="1828800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1828800"/>
            <a:ext cx="13716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Déc.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2542032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14233A"/>
                </a:solidFill>
                <a:latin typeface="Calibri"/>
              </a:rPr>
              <a:t>25 entretiens</a:t>
            </a:r>
          </a:p>
        </p:txBody>
      </p:sp>
      <p:sp>
        <p:nvSpPr>
          <p:cNvPr id="13" name="Chevron 12"/>
          <p:cNvSpPr/>
          <p:nvPr/>
        </p:nvSpPr>
        <p:spPr>
          <a:xfrm>
            <a:off x="4425696" y="1828800"/>
            <a:ext cx="1828800" cy="640080"/>
          </a:xfrm>
          <a:prstGeom prst="chevron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1828800"/>
            <a:ext cx="13716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Fév. 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542032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14233A"/>
                </a:solidFill>
                <a:latin typeface="Calibri"/>
              </a:rPr>
              <a:t>8 pré-ventes</a:t>
            </a:r>
          </a:p>
        </p:txBody>
      </p:sp>
      <p:sp>
        <p:nvSpPr>
          <p:cNvPr id="16" name="Chevron 15"/>
          <p:cNvSpPr/>
          <p:nvPr/>
        </p:nvSpPr>
        <p:spPr>
          <a:xfrm>
            <a:off x="6364224" y="1828800"/>
            <a:ext cx="1828800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38544" y="1828800"/>
            <a:ext cx="13716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Juin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542032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14233A"/>
                </a:solidFill>
                <a:latin typeface="Calibri"/>
              </a:rPr>
              <a:t>MVP + 5 pilotes</a:t>
            </a:r>
          </a:p>
        </p:txBody>
      </p:sp>
      <p:sp>
        <p:nvSpPr>
          <p:cNvPr id="19" name="Chevron 18"/>
          <p:cNvSpPr/>
          <p:nvPr/>
        </p:nvSpPr>
        <p:spPr>
          <a:xfrm>
            <a:off x="8302752" y="1828800"/>
            <a:ext cx="1828800" cy="640080"/>
          </a:xfrm>
          <a:prstGeom prst="chevron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7072" y="1828800"/>
            <a:ext cx="13716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2028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542032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14233A"/>
                </a:solidFill>
                <a:latin typeface="Calibri"/>
              </a:rPr>
              <a:t>84 clients</a:t>
            </a:r>
          </a:p>
        </p:txBody>
      </p:sp>
      <p:sp>
        <p:nvSpPr>
          <p:cNvPr id="22" name="Chevron 21"/>
          <p:cNvSpPr/>
          <p:nvPr/>
        </p:nvSpPr>
        <p:spPr>
          <a:xfrm>
            <a:off x="10241280" y="1828800"/>
            <a:ext cx="1828800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0" y="1828800"/>
            <a:ext cx="13716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2542032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14233A"/>
                </a:solidFill>
                <a:latin typeface="Calibri"/>
              </a:rPr>
              <a:t>170 clients, Shopify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En résumé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Soutenance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4233A"/>
                </a:solidFill>
                <a:latin typeface="Calibri"/>
              </a:rPr>
              <a:t>• Un vrai irritant, sur une niche : ~500-950 domaines WooCommerce exportateurs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4233A"/>
                </a:solidFill>
                <a:latin typeface="Calibri"/>
              </a:rPr>
              <a:t>• Un produit simple : un connecteur neutre multi-logisticiens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4233A"/>
                </a:solidFill>
                <a:latin typeface="Calibri"/>
              </a:rPr>
              <a:t>• Une PME SaaS rentable vers l'an 4 avec ~210 clients — pas une licorne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4233A"/>
                </a:solidFill>
                <a:latin typeface="Calibri"/>
              </a:rPr>
              <a:t>• Aucune demande validée : nous testons avant d'investir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75488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754880"/>
            <a:ext cx="106070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Nous demandons 120 k€ pour prouver en 6 mois que les domaines et les logisticiens paient. Vos vins passent les frontières.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