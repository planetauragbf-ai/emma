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371600"/>
            <a:ext cx="5486400" cy="5486400"/>
          </a:xfrm>
          <a:prstGeom prst="ellipse">
            <a:avLst/>
          </a:prstGeom>
          <a:solidFill>
            <a:srgbClr val="1E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566160"/>
            <a:ext cx="2377440" cy="237744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229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PASSAVIN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880360"/>
            <a:ext cx="1097280" cy="82296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8686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Le connecteur neutre entre la boutique en ligne des domaines européens et les logisticiens vin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86868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E9DFCF"/>
                </a:solidFill>
                <a:latin typeface="Calibri"/>
              </a:rPr>
              <a:t>Dossier de présentation investisseurs — Bloc 3 Euridis · Mastère Marketing &amp; Digital Business · Version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E9DFCF"/>
                </a:solidFill>
                <a:latin typeface="Calibri"/>
              </a:rPr>
              <a:t>[Nom Prénom] · [Promotion] · Octobre 2026 · Nom de travail provisoire, sous réserve des vérifications INPI/EUIPO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EN UNE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Résumé investisseur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3 732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E9DFCF"/>
                </a:solidFill>
                <a:latin typeface="Calibri"/>
              </a:rPr>
              <a:t>domaines dans le SAM européen (5 pays, 3 CMS) — ×4 à 7 par rapport à la 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725 k€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revenu récurrent annualisé fin 2029 (central : 478 domaines + 137 en marque blanche)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M38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point mort mensuel en central (M36 visé, non atteint ; M32 en optimiste)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890 k€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besoin sur 3 ans : 140 k€ de pré-amorçage + seed de 750 k€ à M12, conditionnée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063240"/>
          <a:ext cx="110642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286000"/>
                <a:gridCol w="237744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Problème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Organisation commerciale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Statut honnête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13258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Ressaisie des commandes étrangères, pays non livrables au panier, frais de port faux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Connecteur WooCommerce → Shopify → PrestaShop : éligibilité au checkout, transmission, suivi, multi-logisticiens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Direct : abonnement 49-199 €/mois. Partner : licence de marque blanche 690-2 490 €/mois pour les logisticiens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Dirigeant + 3 sales pays + partner manager + 2 customer success ; 27 agences, 20 apporteurs, 4 logisticiens revendeurs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Aucun client payant. Validation avant le MVP (≈ 3 mois, &lt; 8 k€)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Nous demandons 750 k€ à M12 (550 k€ de fonds propres + 200 k€ de prêt d'amorçage BPI), seulement si les jalons sont atteints : ≥ 25 domaines payants, 2 logisticiens intégrés, 1 lettre d'intention de licence.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VISION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Start with why : aucun vin ne devrait rester à quai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7607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14233A"/>
                </a:solidFill>
                <a:latin typeface="Calibri"/>
              </a:rPr>
              <a:t>Au XIXᵉ siècle, aucun vin ne circulait sans « passavant », le laissez-passer des douanes.</a:t>
            </a:r>
          </a:p>
          <a:p>
            <a:pPr algn="l"/>
            <a:r>
              <a:rPr sz="1600" b="0" i="0">
                <a:solidFill>
                  <a:srgbClr val="14233A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14233A"/>
                </a:solidFill>
                <a:latin typeface="Calibri"/>
              </a:rPr>
              <a:t>Aujourd'hui, un domaine de Loire, de Vénétie ou de la Rioja qui vend en ligne à un client suisse, belge ou allemand perd encore du temps — et parfois la vente — entre sa boutique et son logisticien.</a:t>
            </a:r>
          </a:p>
          <a:p>
            <a:pPr algn="l"/>
            <a:r>
              <a:rPr sz="1600" b="0" i="0">
                <a:solidFill>
                  <a:srgbClr val="14233A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14233A"/>
                </a:solidFill>
                <a:latin typeface="Calibri"/>
              </a:rPr>
              <a:t>Passavin veut que chaque bouteille vendue en ligne en Europe puisse partir, sans ressaisie, vers toutes les destinations réellement livrables.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417320"/>
            <a:ext cx="49377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2A7F87"/>
                </a:solidFill>
                <a:latin typeface="Calibri"/>
              </a:rPr>
              <a:t>SOURCES DE MOTIVATION ET APPROCHE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6596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4233A"/>
                </a:solidFill>
                <a:latin typeface="Calibri"/>
              </a:rPr>
              <a:t>• Expérience terrain du porteur : commercial dans le transport de vin pour particuliers, partout dans le monde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233A"/>
                </a:solidFill>
                <a:latin typeface="Calibri"/>
              </a:rPr>
              <a:t>• Constat répété d'intégrations refaites « une par une » chez les logisticiens (signal observé, pas des clients de Passavin)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233A"/>
                </a:solidFill>
                <a:latin typeface="Calibri"/>
              </a:rPr>
              <a:t>• Ambition : une PME SaaS européenne, neutre entre logisticiens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233A"/>
                </a:solidFill>
                <a:latin typeface="Calibri"/>
              </a:rPr>
              <a:t>• Pragmatisme : un CMS à la fois, un pays à la fois, chaque recrutement déclenché par un jalon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233A"/>
                </a:solidFill>
                <a:latin typeface="Calibri"/>
              </a:rPr>
              <a:t>• Tester la demande avant de coder : seuils GO / STOP fixés à l'avance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ENVIRONNEMENT &amp; POURQUOI MAINTENANT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Un environnement qui pousse les domaines vers la vente directe en Europe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−8 %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E9DFCF"/>
                </a:solidFill>
                <a:latin typeface="Calibri"/>
              </a:rPr>
              <a:t>exportations françaises de vins &amp; spiritueux en 2025 (14,3 Md€, FEVS)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−3,7 %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exportations italiennes de vin 2025 (7,77 Md€, ISTAT)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−5 %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exportations espagnoles de vin 2025 (2,88 Md€, AEAT/OIVE)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46 %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du CA des domaines allemands en vente directe (DWI/Geisenheim 2024)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01752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114800"/>
                <a:gridCol w="38404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Tendance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Donnée [FAIT]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Effet pour Passavin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Droits américains de 15 % depuis août 2025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États-Unis : 1ᵉʳ marché du vin français (20 %)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Report vers l'Europe, où l'expédition aux particuliers est possible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Vente à distance intra-UE depuis 2023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Accises du pays de destination (directive UE 2020/262)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Besoin de logisticiens spécialisés → besoin de connecteurs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Digitalisation des producteurs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79 % des viticulteurs FR ont un site, 21 % vendent en ligne (Afnic 2025)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Base installée de boutiques à connecter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Les logisticiens se lancent seuls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MBE Wine for Europe (juin 2026), plugin Hillebrand Gori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Fenêtre ouverte pour un acteur neutre, mais pas pour longtemps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8C2F39"/>
                </a:solidFill>
                <a:latin typeface="Calibri"/>
              </a:rPr>
              <a:t>Point d'attention : les budgets des domaines se resserrent aussi. Prix d'entrée bas, gain démontré en démo.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Le problème : trois frictions entre « vendre » et « livrer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8C2F39"/>
                </a:solidFill>
                <a:latin typeface="Calibri"/>
              </a:rPr>
              <a:t>01 · Avant la vente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10896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14233A"/>
                </a:solidFill>
                <a:latin typeface="Calibri"/>
              </a:rPr>
              <a:t>La boutique propose des pays où aucun logisticien ne livre le vin, avec un forfait de port approximatif → commande annulée ou vendue à perte.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4630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8C2F39"/>
                </a:solidFill>
                <a:latin typeface="Calibri"/>
              </a:rPr>
              <a:t>02 · Après la vente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194560"/>
            <a:ext cx="310896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14233A"/>
                </a:solidFill>
                <a:latin typeface="Calibri"/>
              </a:rPr>
              <a:t>La commande est ressaisie à la main dans le portail du logisticien : ≈ 12 min par commande étrangère [hypothèse à mesurer].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46304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6459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8C2F39"/>
                </a:solidFill>
                <a:latin typeface="Calibri"/>
              </a:rPr>
              <a:t>03 · Après l'expédition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194560"/>
            <a:ext cx="310896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14233A"/>
                </a:solidFill>
                <a:latin typeface="Calibri"/>
              </a:rPr>
              <a:t>Le numéro de suivi est recopié à la main ; le client inquiet écrit ; les incidents se gèrent par mail.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Deux victimes : le domaine (temps, ventes perdues) et le logisticien, qui paie chaque intégration sur mesure — ou un plugin maison peu adopté. D'où deux offres : Direct pour les domaines, Partner pour les logisticiens.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PROBLÈME — VALIDÉ / NON VALIDÉ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Le problème est réel, son ampleur n'est pas encore prouvée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566160"/>
                <a:gridCol w="29260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Affirmation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Comment le prouver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Les intégrations logistiques sont faites au cas par cas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Observé chez un logisticien (signal, pas des clients)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Entretiens avec 4 logisticiens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Les outils génériques gèrent mal l'alcool international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Vérifié (Packlink, FedEx)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Un plugin vin existe mais n'est pas adopté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Vérifié (Hillebrand Gori : &lt; 10 installations)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Comprendre pourquoi (3 entretiens)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≈ 12 min de ressaisie par commande étrangère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Hypothèse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Chronométrage chez 25 domaines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25 % des caves italiennes et 50 % des bodegas vendent sur leur site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Hypothèse (Nomisma ≈ 50 %, EAE 70 %)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10 entretiens IT, 8 ES, scan de sites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Les domaines paieront 94 €/mois en moyenne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Hypothèse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Van Westendorp + 8 pré-ventes avec acompte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Un logisticien paiera une licence de marque blanche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Hypothèse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 lettre d'intention avant la seed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La solution : votre boutique, branchée à vos logisticiens 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60704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« Au panier, vos clients étrangers ne voient que les destinations réellement livrables, au bon prix. Après l'achat, la commande part chez le logisticien et le suivi revient tout seul. »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2514600"/>
            <a:ext cx="1463040" cy="640080"/>
          </a:xfrm>
          <a:prstGeom prst="homePlate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5146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27832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Connexion du logisticien, contrôle des fiches produits</a:t>
            </a:r>
          </a:p>
        </p:txBody>
      </p:sp>
      <p:sp>
        <p:nvSpPr>
          <p:cNvPr id="12" name="Chevron 11"/>
          <p:cNvSpPr/>
          <p:nvPr/>
        </p:nvSpPr>
        <p:spPr>
          <a:xfrm>
            <a:off x="2121408" y="2514600"/>
            <a:ext cx="146304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25146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3227832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Éligibilité pays + tarif via les API des logisticiens</a:t>
            </a:r>
          </a:p>
        </p:txBody>
      </p:sp>
      <p:sp>
        <p:nvSpPr>
          <p:cNvPr id="15" name="Chevron 14"/>
          <p:cNvSpPr/>
          <p:nvPr/>
        </p:nvSpPr>
        <p:spPr>
          <a:xfrm>
            <a:off x="3694176" y="2514600"/>
            <a:ext cx="1463040" cy="640080"/>
          </a:xfrm>
          <a:prstGeom prst="chevron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8496" y="25146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Paiement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227832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Passerelle du domaine (aucun flux financier chez nous)</a:t>
            </a:r>
          </a:p>
        </p:txBody>
      </p:sp>
      <p:sp>
        <p:nvSpPr>
          <p:cNvPr id="18" name="Chevron 17"/>
          <p:cNvSpPr/>
          <p:nvPr/>
        </p:nvSpPr>
        <p:spPr>
          <a:xfrm>
            <a:off x="5266944" y="2514600"/>
            <a:ext cx="146304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1264" y="25146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Pré-contrôle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3227832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Adresse, téléphone, colis, valeur ; file d'anomalies</a:t>
            </a:r>
          </a:p>
        </p:txBody>
      </p:sp>
      <p:sp>
        <p:nvSpPr>
          <p:cNvPr id="21" name="Chevron 20"/>
          <p:cNvSpPr/>
          <p:nvPr/>
        </p:nvSpPr>
        <p:spPr>
          <a:xfrm>
            <a:off x="6839712" y="2514600"/>
            <a:ext cx="1463040" cy="640080"/>
          </a:xfrm>
          <a:prstGeom prst="chevron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5146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Transmission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3227832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Ordre d'expédition chez le logisticien choisi</a:t>
            </a:r>
          </a:p>
        </p:txBody>
      </p:sp>
      <p:sp>
        <p:nvSpPr>
          <p:cNvPr id="24" name="Chevron 23"/>
          <p:cNvSpPr/>
          <p:nvPr/>
        </p:nvSpPr>
        <p:spPr>
          <a:xfrm>
            <a:off x="8412480" y="2514600"/>
            <a:ext cx="146304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25146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Suivi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27832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Statuts récupérés, mail au client</a:t>
            </a:r>
          </a:p>
        </p:txBody>
      </p:sp>
      <p:sp>
        <p:nvSpPr>
          <p:cNvPr id="27" name="Chevron 26"/>
          <p:cNvSpPr/>
          <p:nvPr/>
        </p:nvSpPr>
        <p:spPr>
          <a:xfrm>
            <a:off x="9985248" y="2514600"/>
            <a:ext cx="1463040" cy="640080"/>
          </a:xfrm>
          <a:prstGeom prst="chevron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59568" y="2514600"/>
            <a:ext cx="10058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Pilotage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3227832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Délais, coûts, incidents par pays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3434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4233A"/>
                </a:solidFill>
                <a:latin typeface="Calibri"/>
              </a:rPr>
              <a:t>• Ne promet pas une conformité automatique : les règles d'éligibilité sont fournies et garanties par chaque logisticien ; Passavin les applique.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233A"/>
                </a:solidFill>
                <a:latin typeface="Calibri"/>
              </a:rPr>
              <a:t>• Pas d'envoi direct à des particuliers aux États-Unis (système three-tier).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233A"/>
                </a:solidFill>
                <a:latin typeface="Calibri"/>
              </a:rPr>
              <a:t>• RGPD : Passavin est sous-traitant du domaine ; hébergement UE ; seules les données utiles à l'expédition sont transmises au logisticien choisi.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PRODUITS ET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Deux offres, un seul moteur, trois CMS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8C2F39"/>
                </a:solidFill>
                <a:latin typeface="Calibri"/>
              </a:rPr>
              <a:t>PASSAVIN DIRECT — pour les domaines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029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Extension CMS + moteur cloud multi-logisticiens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Essentiel 49 € · Pro 99 € · Expert 199 €/mois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Installation 490 € (0 € via une agence)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Domaine libre de choisir et de changer de logisticien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A7F87"/>
                </a:solidFill>
                <a:latin typeface="Calibri"/>
              </a:rPr>
              <a:t>PASSAVIN PARTNER — pour les logisticiens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Même moteur, à la marque du logisticien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Licence 690 / 1 490 / 2 490 €/mois + mise en place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0,40 à 0,60 € par expédition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Le logisticien l'offre à ses domaines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2A7F87"/>
                </a:solidFill>
                <a:latin typeface="Calibri"/>
              </a:rPr>
              <a:t>FEUILLE DE ROUTE PRODUIT</a:t>
            </a:r>
          </a:p>
        </p:txBody>
      </p:sp>
      <p:sp>
        <p:nvSpPr>
          <p:cNvPr id="14" name="Pentagon 13"/>
          <p:cNvSpPr/>
          <p:nvPr/>
        </p:nvSpPr>
        <p:spPr>
          <a:xfrm>
            <a:off x="548640" y="4434840"/>
            <a:ext cx="1737360" cy="640080"/>
          </a:xfrm>
          <a:prstGeom prst="homePlate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434840"/>
            <a:ext cx="1280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M1-M4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48072"/>
            <a:ext cx="173736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MVP WooCommerce, 2 adaptateurs logisticiens</a:t>
            </a:r>
          </a:p>
        </p:txBody>
      </p:sp>
      <p:sp>
        <p:nvSpPr>
          <p:cNvPr id="17" name="Chevron 16"/>
          <p:cNvSpPr/>
          <p:nvPr/>
        </p:nvSpPr>
        <p:spPr>
          <a:xfrm>
            <a:off x="2395728" y="4434840"/>
            <a:ext cx="173736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4434840"/>
            <a:ext cx="1280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5148072"/>
            <a:ext cx="173736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Commercialisation France</a:t>
            </a:r>
          </a:p>
        </p:txBody>
      </p:sp>
      <p:sp>
        <p:nvSpPr>
          <p:cNvPr id="20" name="Chevron 19"/>
          <p:cNvSpPr/>
          <p:nvPr/>
        </p:nvSpPr>
        <p:spPr>
          <a:xfrm>
            <a:off x="4242816" y="4434840"/>
            <a:ext cx="1737360" cy="640080"/>
          </a:xfrm>
          <a:prstGeom prst="chevron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4434840"/>
            <a:ext cx="1280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5148072"/>
            <a:ext cx="173736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1ʳᵉ licence Partner</a:t>
            </a:r>
          </a:p>
        </p:txBody>
      </p:sp>
      <p:sp>
        <p:nvSpPr>
          <p:cNvPr id="23" name="Chevron 22"/>
          <p:cNvSpPr/>
          <p:nvPr/>
        </p:nvSpPr>
        <p:spPr>
          <a:xfrm>
            <a:off x="6089904" y="4434840"/>
            <a:ext cx="173736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4434840"/>
            <a:ext cx="1280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5148072"/>
            <a:ext cx="173736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App Shopify (0 % de commission jusqu'à 1 M$)</a:t>
            </a:r>
          </a:p>
        </p:txBody>
      </p:sp>
      <p:sp>
        <p:nvSpPr>
          <p:cNvPr id="26" name="Chevron 25"/>
          <p:cNvSpPr/>
          <p:nvPr/>
        </p:nvSpPr>
        <p:spPr>
          <a:xfrm>
            <a:off x="7936992" y="4434840"/>
            <a:ext cx="1737360" cy="640080"/>
          </a:xfrm>
          <a:prstGeom prst="chevron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4434840"/>
            <a:ext cx="1280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5148072"/>
            <a:ext cx="173736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Module PrestaShop (vendu en direct)</a:t>
            </a:r>
          </a:p>
        </p:txBody>
      </p:sp>
      <p:sp>
        <p:nvSpPr>
          <p:cNvPr id="29" name="Chevron 28"/>
          <p:cNvSpPr/>
          <p:nvPr/>
        </p:nvSpPr>
        <p:spPr>
          <a:xfrm>
            <a:off x="9784080" y="4434840"/>
            <a:ext cx="173736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4434840"/>
            <a:ext cx="1280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M26+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5148072"/>
            <a:ext cx="1737360" cy="960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Nouveaux adaptateurs, marque blanche Premium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MARCHÉ (MARKET SIZE)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Un marché européen d'environ 3 700 domaines adressables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1737360"/>
                <a:gridCol w="1188720"/>
                <a:gridCol w="2011680"/>
                <a:gridCol w="1188720"/>
                <a:gridCol w="128016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Pays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Producteurs (base)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Vendent en ligne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TAM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SAM (3 CMS × export)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SOM M36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Pénétration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France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43 000 [FAIT]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21 % [FAIT]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9 030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2 040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289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14 %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Italie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17 000 [FAIT ICQRF]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25 % [HYP]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4 250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945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11 %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Espagne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3 925 [FAIT INE]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50 % [HYP]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1 962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18 %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Allemagne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15 151 [FAIT Destatis]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25 % [HYP]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3 788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185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2 %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3 000 [HYP, NV]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25 % [HYP]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750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19 780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3 732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478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13 %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43484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En valeur (≈ 1 300 €/an par domaine) : TAM ≈ 26 M€/an, SAM ≈ 4,9 M€/an ; + 137 domaines activés par les logisticiens revendeurs.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Parts de CMS : WMTips 2026 (tous secteurs, faute de données propres au vin). Parts « export particuliers » : hypothèses à mesurer.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4233A"/>
                </a:solidFill>
                <a:latin typeface="Calibri"/>
              </a:rPr>
              <a:t>• Allemagne = surtout un pays de destination : pas de commercial dédié. Espagne = vivier le plus petit : poste partagé avec le Portugal.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CLIENTÈLE — BUYER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Cibles : quatre personas (illustratifs)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060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8C2F39"/>
                </a:solidFill>
                <a:latin typeface="Calibri"/>
              </a:rPr>
              <a:t>Claire, 42 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Vigneronne-gérante (Loire), WooCommerce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2A7F87"/>
                </a:solidFill>
                <a:latin typeface="Calibri"/>
              </a:rPr>
              <a:t>FRUSTRATION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4233A"/>
                </a:solidFill>
                <a:latin typeface="Calibri"/>
              </a:rPr>
              <a:t>Ressaisies le soir ; « où est mon colis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2A7F87"/>
                </a:solidFill>
                <a:latin typeface="Calibri"/>
              </a:rPr>
              <a:t>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22860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4233A"/>
                </a:solidFill>
                <a:latin typeface="Calibri"/>
              </a:rPr>
              <a:t>« Vos commandes étrangères partent sans ressaisie. 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371600"/>
            <a:ext cx="26060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0876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8C2F39"/>
                </a:solidFill>
                <a:latin typeface="Calibri"/>
              </a:rPr>
              <a:t>Marco, 38 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2024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Responsable commercial, Valpolicella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9748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2A7F87"/>
                </a:solidFill>
                <a:latin typeface="Calibri"/>
              </a:rPr>
              <a:t>FRUSTRATION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97180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4233A"/>
                </a:solidFill>
                <a:latin typeface="Calibri"/>
              </a:rPr>
              <a:t>Pays non livrables au panier, accises mal estimées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93192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2A7F87"/>
                </a:solidFill>
                <a:latin typeface="Calibri"/>
              </a:rPr>
              <a:t>MESSAGE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206240"/>
            <a:ext cx="22860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4233A"/>
                </a:solidFill>
                <a:latin typeface="Calibri"/>
              </a:rPr>
              <a:t>« Plus aucun pays impossible au panier.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1371600"/>
            <a:ext cx="26060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50876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8C2F39"/>
                </a:solidFill>
                <a:latin typeface="Calibri"/>
              </a:rPr>
              <a:t>Sophie, 38 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192024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Dirigeante d'agence web, 25 domaines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69748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2A7F87"/>
                </a:solidFill>
                <a:latin typeface="Calibri"/>
              </a:rPr>
              <a:t>FRUSTRATION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97180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4233A"/>
                </a:solidFill>
                <a:latin typeface="Calibri"/>
              </a:rPr>
              <a:t>Intégrations refaites à chaque client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393192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2A7F87"/>
                </a:solidFill>
                <a:latin typeface="Calibri"/>
              </a:rPr>
              <a:t>MESSAGE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4206240"/>
            <a:ext cx="22860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4233A"/>
                </a:solidFill>
                <a:latin typeface="Calibri"/>
              </a:rPr>
              <a:t>« Une intégration maintenue, 20-25 % récurrents.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399" y="1371600"/>
            <a:ext cx="26060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79" y="150876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8C2F39"/>
                </a:solidFill>
                <a:latin typeface="Calibri"/>
              </a:rPr>
              <a:t>Marc, 50 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79" y="192024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Directeur commercial d'un logisticien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79" y="269748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2A7F87"/>
                </a:solidFill>
                <a:latin typeface="Calibri"/>
              </a:rPr>
              <a:t>FRUSTRATION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9" y="297180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4233A"/>
                </a:solidFill>
                <a:latin typeface="Calibri"/>
              </a:rPr>
              <a:t>Plugin maison coûteux, peu adopté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79" y="393192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 i="0">
                <a:solidFill>
                  <a:srgbClr val="2A7F87"/>
                </a:solidFill>
                <a:latin typeface="Calibri"/>
              </a:rPr>
              <a:t>MESSAGE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4206240"/>
            <a:ext cx="22860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14233A"/>
                </a:solidFill>
                <a:latin typeface="Calibri"/>
              </a:rPr>
              <a:t>« Votre connecteur à votre marque en 8 semaines. 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ICP Direct : domaine de 10-60 ha, boutique active depuis ≥ 1 an, 10-80 commandes/mois dont ≥ 20 % hors du pays. Personas fictifs, à remplacer par les entretiens.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ANALYSE DE LA CONCURRENCE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Concurrence : l'idée existe… en partie, et personne n'est neutre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2560320"/>
                <a:gridCol w="338328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Acteur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Force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Limite pour notre cible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Hillebrand Gori eShipping (DHL)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Logisticien + plugin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Droits au checkout, FR/ES/IT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Mono-logisticien, &lt; 10 installations Woo, pas d'app Shopify trouvée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MBE Wine for Europe (juin 2026)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Logisticien + module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Accises UE, réseau Mail Boxes Etc.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Mono-réseau → aussi un client Partner potentiel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Tannico WinePlatform (IT)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E-shop en marque blanche + logistique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Clé en main pour les caves italiennes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Remplace la boutique du domaine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VinTrail, Baqio, Wineriz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Plateformes de vente vin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Tout-en-un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Remplacent la boutique ; modèle fermé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Sendcloud, Boxtal, Packlink, ShipStation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Multi-transporteurs génériques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Matures, pas chers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Alcool international mal couvert (Packlink : pas de vin hors UE)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Commerce7, Vinoshipper, Sovos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Conformité DTC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Référence aux États-Unis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Marché américain, pas l'export depuis l'UE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Marketplaces (Vivino, Plugwine…)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Vente intermédiée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Le domaine perd la relation client (≈ 20 % de commission)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Développement sur mesure / agences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Substitut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Sur mesure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Non maintenu, refait à chaque client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Sources : sites des éditeurs, wordpress.org, Vinetur (2026). Acteurs non retrouvés lors de la recherche : non cités.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AVANTAGES CONCURRENTIELS — 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Positionnement et proposition de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6070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USP : « Le connecteur neutre qui branche votre boutique à plusieurs logisticiens vin. » Jamais « le seul plugin vin » : Hillebrand Gori en a un, mono-logisticien.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61488"/>
            <a:ext cx="22402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A7F87"/>
                </a:solidFill>
                <a:latin typeface="Calibri"/>
              </a:rPr>
              <a:t>Neutre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24028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4233A"/>
                </a:solidFill>
                <a:latin typeface="Calibri"/>
              </a:rPr>
              <a:t>Plusieurs logisticiens, aucun classement payant, mêmes conditions pour tous (Planet Aura compris)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65176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761488"/>
            <a:ext cx="22402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A7F87"/>
                </a:solidFill>
                <a:latin typeface="Calibri"/>
              </a:rPr>
              <a:t>Spécialisé alcool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00400"/>
            <a:ext cx="224028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4233A"/>
                </a:solidFill>
                <a:latin typeface="Calibri"/>
              </a:rPr>
              <a:t>Éligibilité des destinations et tarifs réels au checkout, là où les outils génériques échouent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265176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761488"/>
            <a:ext cx="22402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A7F87"/>
                </a:solidFill>
                <a:latin typeface="Calibri"/>
              </a:rPr>
              <a:t>Multi-CMS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200400"/>
            <a:ext cx="224028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4233A"/>
                </a:solidFill>
                <a:latin typeface="Calibri"/>
              </a:rPr>
              <a:t>WooCommerce, Shopify, PrestaShop : 100 % du vivier couvert à M25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265176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79" y="2761488"/>
            <a:ext cx="22402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A7F87"/>
                </a:solidFill>
                <a:latin typeface="Calibri"/>
              </a:rPr>
              <a:t>Deux 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79" y="3200400"/>
            <a:ext cx="2240280" cy="1463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4233A"/>
                </a:solidFill>
                <a:latin typeface="Calibri"/>
              </a:rPr>
              <a:t>Domaines (Direct) et logisticiens (Partner) : chaque logisticien devient un canal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Barrières à construire : réseau de logisticiens intégrés, base de règles d'éligibilité maintenue, réseau de 27 agences, neutralité contractuelle.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Barrière faible au départ : la vitesse d'exécution et la connaissance du terrain du fondateur. À dire franchement.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Business model : deux offres, sept lignes de revenus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017520"/>
                <a:gridCol w="1920240"/>
                <a:gridCol w="3291840"/>
                <a:gridCol w="164592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Offre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Ligne de revenus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Qui paie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Prix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 an 3 (central)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Abonnement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Domaine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49 / 99 / 199 €/mois (ARPA 94 €)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386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Installation accompagnée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Domaine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490 € (190 € pilotes, 0 € via agence)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97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Frais de plateforme (à valider)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Logisticien choisi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1,50 €/expédition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62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Services (≤ 15 % du CA)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Domaine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Sur devis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15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Licence de marque blanche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Logisticien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690 / 1 490 / 2 490 €/mois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64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Mise en place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Logisticien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4 000 à 12 000 €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16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Frais par expédition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Logisticien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0,40 à 0,60 €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9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649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E6673"/>
                </a:solidFill>
                <a:latin typeface="Calibri"/>
              </a:rPr>
              <a:t>Abandonnés : création de boutiques (confiée aux agences, devenues un canal) et développements non réutilisables. Abonnement annuel = 2 mois offerts (lisse la saisonnalité).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BUSINESS MODEL — TARIFICATION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Économie unitaire et prix de la marque blanche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99 €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E9DFCF"/>
                </a:solidFill>
                <a:latin typeface="Calibri"/>
              </a:rPr>
              <a:t>contribution mensuelle par domaine (abonnement + frais − coûts variables)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6 591 €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LTV (durée de vie 67 mois, résiliation 1,5 %/mois)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1 079 €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CAC an 3 (812 € en an 1, 1 537 € en an 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71600"/>
            <a:ext cx="2606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81328"/>
            <a:ext cx="22402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8C2F39"/>
                </a:solidFill>
                <a:latin typeface="Calibri"/>
              </a:rPr>
              <a:t>6,1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2402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LTV / CAC ; CAC récupéré en 11 mois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2A7F87"/>
                </a:solidFill>
                <a:latin typeface="Calibri"/>
              </a:rPr>
              <a:t>POURQUOI UN LOGISTICIEN PAIERAIT 1 490 €/MOIS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383280"/>
          <a:ext cx="6035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Coût pour 2 CMS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1ʳᵉ année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Ensuite / an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Plugin développé en interne [HYP]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≈ 69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≈ 15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Licence Business + mise en place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25,9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17,9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Risque d'adoption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Le sien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Partagé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858000" y="310896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Repères publics 2026 : Sendcloud Pro 639 €/mois + 0,07 €/étiquette ; Cargoson 199 à 1 000 $/mois.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Passavin Partner est au-dessus d'un outil d'étiquetage : éligibilité alcool, 3 CMS, marque du logisticien.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0,50 €/expédition en marque blanche contre 1,50 € en mode neutre : en marque blanche, c'est le logisticien qui apporte les clients.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STRATÉGIE — ÉTAPES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Stratégie : un pays et un CMS à la fois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15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417320"/>
            <a:ext cx="1783080" cy="640080"/>
          </a:xfrm>
          <a:prstGeom prst="homePlate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Nov. 26-fév.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30552"/>
            <a:ext cx="17830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Validation FR : 25 entretiens, 8 pré-ventes, 2 logisticiens</a:t>
            </a:r>
          </a:p>
        </p:txBody>
      </p:sp>
      <p:sp>
        <p:nvSpPr>
          <p:cNvPr id="10" name="Chevron 9"/>
          <p:cNvSpPr/>
          <p:nvPr/>
        </p:nvSpPr>
        <p:spPr>
          <a:xfrm>
            <a:off x="2441448" y="1417320"/>
            <a:ext cx="178308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141732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M1-M12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130552"/>
            <a:ext cx="17830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MVP Woo, pilotes, France : 32 domaines ; seed M12</a:t>
            </a:r>
          </a:p>
        </p:txBody>
      </p:sp>
      <p:sp>
        <p:nvSpPr>
          <p:cNvPr id="13" name="Chevron 12"/>
          <p:cNvSpPr/>
          <p:nvPr/>
        </p:nvSpPr>
        <p:spPr>
          <a:xfrm>
            <a:off x="4334255" y="1417320"/>
            <a:ext cx="1783080" cy="640080"/>
          </a:xfrm>
          <a:prstGeom prst="chevron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5" y="141732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M13-M18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5" y="2130552"/>
            <a:ext cx="17830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Partner manager, Italie (M17), Shopify (M18) : 83 domaines</a:t>
            </a:r>
          </a:p>
        </p:txBody>
      </p:sp>
      <p:sp>
        <p:nvSpPr>
          <p:cNvPr id="16" name="Chevron 15"/>
          <p:cNvSpPr/>
          <p:nvPr/>
        </p:nvSpPr>
        <p:spPr>
          <a:xfrm>
            <a:off x="6227063" y="1417320"/>
            <a:ext cx="178308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3" y="141732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M19-M24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3" y="2130552"/>
            <a:ext cx="17830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Espagne-Portugal (M20) : 187 domaines, 2 licences</a:t>
            </a:r>
          </a:p>
        </p:txBody>
      </p:sp>
      <p:sp>
        <p:nvSpPr>
          <p:cNvPr id="19" name="Chevron 18"/>
          <p:cNvSpPr/>
          <p:nvPr/>
        </p:nvSpPr>
        <p:spPr>
          <a:xfrm>
            <a:off x="8119871" y="1417320"/>
            <a:ext cx="1783080" cy="640080"/>
          </a:xfrm>
          <a:prstGeom prst="chevron">
            <a:avLst>
              <a:gd name="adj" fmla="val 35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41732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M25-M30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2130552"/>
            <a:ext cx="17830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PrestaShop, customer success IT/ES : 330 domaines</a:t>
            </a:r>
          </a:p>
        </p:txBody>
      </p:sp>
      <p:sp>
        <p:nvSpPr>
          <p:cNvPr id="22" name="Chevron 21"/>
          <p:cNvSpPr/>
          <p:nvPr/>
        </p:nvSpPr>
        <p:spPr>
          <a:xfrm>
            <a:off x="10012680" y="1417320"/>
            <a:ext cx="1783080" cy="640080"/>
          </a:xfrm>
          <a:prstGeom prst="chevron">
            <a:avLst>
              <a:gd name="adj" fmla="val 35000"/>
            </a:avLst>
          </a:prstGeom>
          <a:solidFill>
            <a:srgbClr val="2A7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1417320"/>
            <a:ext cx="13258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M31-M36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130552"/>
            <a:ext cx="17830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4233A"/>
                </a:solidFill>
                <a:latin typeface="Calibri"/>
              </a:rPr>
              <a:t>Allemagne via le réseau : 478 domaines + 137 en marque blanche</a:t>
            </a:r>
          </a:p>
        </p:txBody>
      </p:sp>
      <p:pic>
        <p:nvPicPr>
          <p:cNvPr id="25" name="Picture 24" descr="p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0"/>
            <a:ext cx="5154160" cy="2788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9360" y="361188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Chaque étape a un jalon mesurable : si le jalon n'est pas atteint, l'étape suivante attend.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Italie avant l'Espagne : SAM 2,3 fois plus grand.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PrestaShop avancé à M25 : il pèse plus que Shopify en France (27 % contre 13 %) et en Espagne (20 % contre 6 %).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STRATÉGIE COMMERCIALE — CHIFFRES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Stratégie commerciale : canaux, cycle de vente,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6675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188720"/>
                <a:gridCol w="1188720"/>
                <a:gridCol w="118872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Objectif (central)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2029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Nouveaux domaines Direct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Domaines actifs fin d'année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187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478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Licences / domaines marque blanche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0 / 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 / 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 / 137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Revenu récurrent annualisé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42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284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725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Agences / apporteurs actifs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 /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9 / 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27 / 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32588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2A7F87"/>
                </a:solidFill>
                <a:latin typeface="Calibri"/>
              </a:rPr>
              <a:t>CYCLE DE VENTE (DOMAINE)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79" y="1691640"/>
          <a:ext cx="411480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Étape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Prospect → contact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30 %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Contact → démo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50 %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Démo → essai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50 %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Essai → client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50 %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100 prospects → 3,75 clients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6-8 sem.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61772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Un·e sales à pleine productivité fait ≈ 30 démos et contacte ≈ 200 prospects par mois → un·e alternant·e SDR prend les rendez-vous.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Logisticiens : cycle de 6 à 9 mois (comité de direction, essai technique), porté par le dirigeant et le partner manager.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Saisonnalité : prospection de janvier à juin ; vendanges = agences et contenus ; Noël = support.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STRATÉGIE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Stratégie marketing : budget, événements, contenus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91440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k€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 1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 2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 3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Marketing (salons, contenus, tests)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Programme partenaires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1,5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Déplacements commerciaux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Localisation IT/ES/DE/PT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16,5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32588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Événement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Usage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Vinitech, Wine Paris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Validation, pré-ventes, logisticiens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ProWein (Düsseldorf)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Logisticiens européens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Vinitaly 2028 (Vérone)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Lancement Italie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Fenavin / Barcelona Wine Week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Lancement Espagne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AG des syndicats d'appellation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Ateliers de 20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3434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Inbound : fiche wordpress.org (version « suivi seul » gratuite), App Store Shopify, guide « Expédier du vin aux particuliers en Europe depuis 2023 », webinaires co-animés avec des logisticiens.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Pas de stand payant avant l'an 3 : la valeur est dans les rendez-vous préparés. Dates des salons à reconfirmer.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Pourquoi maintenant : exportations en baisse, accises intra-UE depuis 2023, logisticiens qui lancent leurs propres modules (fenêtre pour un acteur neutre).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ÉQUIPE — RÔLES ET COMPLÉMENTARITÉS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L'équipe : un fondateur commercial, une équipe à construire par jalons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834640"/>
                <a:gridCol w="2377440"/>
                <a:gridCol w="28346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Qui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Apport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Complémentarité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Dirigeant·e — vente, partenariats,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[Nom Prénom], commercial dans le transport de vin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Terrain, logisticiens, domaines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Porte la vision et les licences Partner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Lead développeur·se / CTO (M10)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À recruter — priorité n°1 (BSPCE)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Architecture SaaS, CMS, API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Compense l'absence de compétence technique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 sales pays (M10, M17, M20)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À recruter (natif·ves IT, 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Langue, réseau local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Le dirigeant passe de vendeur à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Partner manager (M13)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À recruter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Animation de réseaux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Démultiplie la vente (agences, apporteurs)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Customer success ×2 (M16, M26)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À recruter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Activation, rétention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Protège le revenu récurrent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Conseils externes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Avocat, expert-comptable, CPI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Contrats, PI, finance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Sécurise sans coût fixe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5E6673"/>
                </a:solidFill>
                <a:latin typeface="Calibri"/>
              </a:rPr>
              <a:t>Aucun associé, aucun diplôme, aucune compétence n'est inventé. Formation du fondateur prévue : finance d'une SAS, management d'une première équipe, contrats SaaS et RGPD.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ÉQUIPE —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Organigramme sur 3 ans et plan de recrutement relié au 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8C2F39"/>
                </a:solidFill>
                <a:latin typeface="Calibri"/>
              </a:rPr>
              <a:t>Fin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17320"/>
            <a:ext cx="1188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500" b="1" i="0">
                <a:solidFill>
                  <a:srgbClr val="2A7F87"/>
                </a:solidFill>
                <a:latin typeface="Calibri"/>
              </a:rPr>
              <a:t>3 pers.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Dirigeant·e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Lead dev (M10)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Sales France (M10)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Réseau : 2 agences, 3 apporteurs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Freelance, avocat, comptable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32588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1732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8C2F39"/>
                </a:solidFill>
                <a:latin typeface="Calibri"/>
              </a:rPr>
              <a:t>Fin 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1188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500" b="1" i="0">
                <a:solidFill>
                  <a:srgbClr val="2A7F87"/>
                </a:solidFill>
                <a:latin typeface="Calibri"/>
              </a:rPr>
              <a:t>9 pers.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874519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Partner manager, alternant·e, dév. Shopify (M13)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Customer success FR/EN (M16)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Sales Italie (M17), Sales ES-PT (M20)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Réseau : 9 agences, 13 apporteurs, 2 licences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325880"/>
            <a:ext cx="35204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41732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 i="0">
                <a:solidFill>
                  <a:srgbClr val="8C2F39"/>
                </a:solidFill>
                <a:latin typeface="Calibri"/>
              </a:rPr>
              <a:t>Fin 2029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417320"/>
            <a:ext cx="1188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500" b="1" i="0">
                <a:solidFill>
                  <a:srgbClr val="2A7F87"/>
                </a:solidFill>
                <a:latin typeface="Calibri"/>
              </a:rPr>
              <a:t>11 pers.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1874519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Customer success IT/ES (M26)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Dév. marque blanche (M26)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4 pôles : produit, ventes, réseau, clients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Réseau : 27 agences, 20 apporteurs, 4 licences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402336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03120"/>
                <a:gridCol w="256032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Jalon (domaines actifs)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Arrivée centrale / pessimiste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Ligne du BP produite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Sales Italie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M17 / M22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93 domaines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Sales Espagne &amp; Portugal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M20 / M26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61 domaines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Partner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M13 / M17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134 via agences, 72 via apporteurs, 4 licences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Customer success IT/ES + dév. marque blanche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M26 / non recrutés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Rétention IT/ES, licences 3 et 4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Règle de gestion codée dans le modèle : pas d'embauche si la trésorerie couvre moins de 6 mois de burn.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MANAGEMENT — ÉQUIPE 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L'équipe commerciale : rôles, objectifs SMART, rémunération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4023360"/>
                <a:gridCol w="24688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Poste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Objectifs SMART (central)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Rémunération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Dirigeant·e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Vente an 1, licences,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22 domaines en 2027 ; seed à M12 ; 1ʳᵉ licence à M15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0 € an 1 ; 2 500 puis 3 500 € brut/mois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Sales France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Chasse + comptes jusqu'au customer success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51 domaines en 2028, 80 en 2029 ; ≥ 30 démos/mois ; ≥ 25 % de conversion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32 k€ + 15 % de la 1ʳᵉ année signée (≈ 170 €/domaine)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Sales Italie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Ouvrir l'Italie, recruter les agences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30 domaines (M17-M24), 64 en 2029 ; 5 agences à M34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Idem, via Employer of Record (+450 €/mois)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Sales Espagne &amp; Portugal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Ouvrir l'Espagne puis le Portugal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11 domaines (M20-M24), 50 en 2029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Idem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Partner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Agences, apporteurs, licences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 → 27 agences ; 134 domaines via agences sur 3 ans ; 4 licences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38 k€ + 1 500 €/licence + 50 €/domaine agence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Customer success ×2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Activation, support, montée en gamme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Résiliation ≤ 1,5 %/mois ; activation ≥ 80 % ; ARPA ≥ 94 €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32 k€ dont prime de rétention ≤ 2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Alternant·e SDR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Rendez-vous, contenus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25 démos qualifiées/mois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≈ 1 000 €/mois net d'aides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Variable payé chaque trimestre, récupéré si le client résilie avant 3 mois, plafonné à 200 % ; BSPCE (réserve de 10 %) pour les premiers salariés.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MANAGEMENT — RÉSEAU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Le réseau commercial externe : agences, apporteurs, logisticiens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194560"/>
                <a:gridCol w="2377440"/>
                <a:gridCol w="246888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Agences Silver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Agences Gold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Apporteurs d'affaires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Logisticiens revendeurs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Rôle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Recommandent et installent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Idem + co-marketing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Consultants, œnologues, syndicats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Offrent Passavin Partner à leurs domaines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Objectif SMART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≥ 1 domaine/trimestre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≥ 1,2 domaine/mois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 domaines/an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≥ 40 domaines activés la 1ʳᵉ année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Rémunération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20 % récurrent à vie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25 % récurrent + 500 €/an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250 €/domaine actif à 3 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Ils paient la licence ; dégressivité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Recrutement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Annuaires Shopify/PrestaShop, sites de domaines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Promotion des Silver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Réseau, AG de syndicats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Liste de 15 logisticiens européens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Formation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Certification 2 h (FR/IT/ES)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+ formation avancée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Kit + 45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 sessions pour leurs commerciaux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Animation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Newsletter, webinaire, CRM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+ revue trimestrielle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Réunion semestrielle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Comité de pilotage trimestriel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Sous-performance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0 en 6 mois → plan 90 j, puis inactive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 trimestres sous seuil → Silver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6 mois sans lead → en sommeil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Plan conjoint ; licence minimale due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Fin 2029 (central)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21 actives · 80 domaines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6 actives · 54 domaines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20 actifs · 72 domaines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4 licences · 137 domaines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5E6673"/>
                </a:solidFill>
                <a:latin typeface="Calibri"/>
              </a:rPr>
              <a:t>Syndicats et associations : pas de commission individuelle mais un tarif adhérent (−10 %), pour éviter tout conflit d'intérêts.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MANAGEMENT —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Recruter, intégrer, former, animer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35607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A7F87"/>
                </a:solidFill>
                <a:latin typeface="Calibri"/>
              </a:rPr>
              <a:t>Recrutement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32004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Poste ouvert seulement si le jalon est atteint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WTTJ, LinkedIn, InfoJobs IT/ES, cooptation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Jeu de rôle : démo à un vigneron sceptique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Prise de références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35607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A7F87"/>
                </a:solidFill>
                <a:latin typeface="Calibri"/>
              </a:rPr>
              <a:t>Intégration 30-60-90 jours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74519"/>
            <a:ext cx="32004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Semaine 1 : immersion chez un domaine et un logisticien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J+30 : démo certifiée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J+60 : quota à 66 %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J+90 : quota plein (rampe 3-4 mois)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35607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A7F87"/>
                </a:solidFill>
                <a:latin typeface="Calibri"/>
              </a:rPr>
              <a:t>Formation continue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19"/>
            <a:ext cx="32004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Playbook commercial (Notion)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Coaching sur appels enregistrés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1 000 €/an/salarié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Mise à jour réglementaire semestrielle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840480"/>
          <a:ext cx="69494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Rituel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Fréquence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Objet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Revue de pipeline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Hebdo, 45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Prévision, blocages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1:1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Hebdo (sales)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Coaching, moral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Revue d'activité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Mensuelle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Tableau de bord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OKR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Trimestriels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Objectifs ≤ 3/pers.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Revue partenaires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Trimestrielle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Agences Gold, logisticiens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772400" y="3840480"/>
            <a:ext cx="38404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950208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A7F87"/>
                </a:solidFill>
                <a:latin typeface="Calibri"/>
              </a:rPr>
              <a:t>Outils et 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389120"/>
            <a:ext cx="34747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CRM HubSpot : pipelines par pays, portail partenaires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Metabase + Stripe : tableau de bord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Challenge « Pro d'abord » trimestriel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« Partenaire de l'année » (voyage salon)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MANAGEMENT —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Style de management, motivation, sous-performance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6035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Style (Hersey-Blanchard)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Pour qui, quand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S1 Directif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Alternant·e ; sales en rampe (0-3 mois)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S2 Persuasif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Sales IT et ES, 6 premiers mois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S3 Participatif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Customer success, développeurs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S4 Délégatif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Sales FR après 12 mois ; partner manager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5760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2A7F87"/>
                </a:solidFill>
                <a:latin typeface="Calibri"/>
              </a:rPr>
              <a:t>OKR trimestriels reliés au BP — exemple T1 2029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6035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Entreprise : « Ouvrir l'Europe du Sud » → 36 domaines IT/ES, 2 agences hors de France, PrestaShop à M25.</a:t>
            </a:r>
          </a:p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Sales Italie : « Référence en Vénétie » → 17 domaines, 50 démos, 1 agence.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325880"/>
            <a:ext cx="4754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435607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A7F87"/>
                </a:solidFill>
                <a:latin typeface="Calibri"/>
              </a:rPr>
              <a:t>Motivation et fidélisation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874519"/>
            <a:ext cx="438912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Variable juste et simple ; BSPCE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Évolution : sales → responsable pays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Reconnaissance, séminaire dans un domaine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Réseau : commission récurrente à vie, Gold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611880"/>
            <a:ext cx="475488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3721608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A7F87"/>
                </a:solidFill>
                <a:latin typeface="Calibri"/>
              </a:rPr>
              <a:t>Sous-performance (équitable)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160520"/>
            <a:ext cx="43891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① Diagnostic : activité, conversion ou cause externe (CMS, saison) ?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② Plan de progrès de 60 jours, coaching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③ Bilan : retour à la normale, prolongation ou changement de poste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④ Objectifs réalistes et connus : un quota manqué ne suffit pas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6035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8C2F39"/>
                </a:solidFill>
                <a:latin typeface="Calibri"/>
              </a:rPr>
              <a:t>Limite assumée : 7 personnes en direct pour le dirigeant à M36 → nommer un·e responsable des ventes en an 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BUSINESS PLAN ← OBJECTIFS COMMERCIAUX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Démonstration n°1 : chaque domaine vient d'une ressource identifiée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24</a:t>
            </a:r>
          </a:p>
        </p:txBody>
      </p:sp>
      <p:pic>
        <p:nvPicPr>
          <p:cNvPr id="7" name="Picture 6" descr="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852160" cy="308910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325880"/>
          <a:ext cx="50292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19456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Ressource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Productivité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 ans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Dirigeant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22 → 2/mois → 1/mois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Sales France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8/mois × couverture CMS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Sales Italie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6/mois × couverture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Sales ES-PT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5/mois × couverture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Agences Silver / Gold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0,4 / 1,2 par 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Apporteurs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0,25/mois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33A"/>
                          </a:solidFill>
                          <a:latin typeface="Calibri"/>
                        </a:rPr>
                        <a:t>Total domaines Direct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33A"/>
                          </a:solidFill>
                          <a:latin typeface="Calibri"/>
                        </a:rPr>
                        <a:t>551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Couverture CMS (France) : 47 % avec WooCommerce seul, 65 % avec Shopify (M18), 100 % avec PrestaShop (M25) ; rampe de 3-4 mois ; baisse quand le SAM se remplit.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Marque blanche : 4 licences signées par le dirigeant puis le partner manager → 137 domaines activés par les logisticiens eux-mêmes.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233A"/>
                </a:solidFill>
                <a:latin typeface="Calibri"/>
              </a:rPr>
              <a:t>• CA = domaines × 94 € + installations + frais logisticiens + licences : aucune ligne sans ressource.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BUSINESS PLAN — RENTABILITÉ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Compte de résultat prévisionnel — scénario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6035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05840"/>
                <a:gridCol w="1005840"/>
                <a:gridCol w="10058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k€ HT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2029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CA Direct (abonnements, installation, frais, services)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27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196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559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CA Partner (marque blanche)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0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36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90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33A"/>
                          </a:solidFill>
                          <a:latin typeface="Calibri"/>
                        </a:rPr>
                        <a:t>CA total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33A"/>
                          </a:solidFill>
                          <a:latin typeface="Calibri"/>
                        </a:rPr>
                        <a:t>27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33A"/>
                          </a:solidFill>
                          <a:latin typeface="Calibri"/>
                        </a:rPr>
                        <a:t>232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33A"/>
                          </a:solidFill>
                          <a:latin typeface="Calibri"/>
                        </a:rPr>
                        <a:t>649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Marge brute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88 %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92 %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92 %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Développement externe (MVP)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42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0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0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Salaires chargés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32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418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628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Autres charges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41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128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164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33A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33A"/>
                          </a:solidFill>
                          <a:latin typeface="Calibri"/>
                        </a:rPr>
                        <a:t>−91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33A"/>
                          </a:solidFill>
                          <a:latin typeface="Calibri"/>
                        </a:rPr>
                        <a:t>−332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33A"/>
                          </a:solidFill>
                          <a:latin typeface="Calibri"/>
                        </a:rPr>
                        <a:t>−196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Revenu récurrent annualisé (fin)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42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284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725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a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280160"/>
            <a:ext cx="4846320" cy="25030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4069080"/>
            <a:ext cx="484632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14233A"/>
                </a:solidFill>
                <a:latin typeface="Calibri"/>
              </a:rPr>
              <a:t>Croissance : CA ×2,8 entre 2028 et 2029,</a:t>
            </a:r>
          </a:p>
          <a:p>
            <a:pPr algn="l"/>
            <a:r>
              <a:rPr sz="1300" b="0" i="0">
                <a:solidFill>
                  <a:srgbClr val="14233A"/>
                </a:solidFill>
                <a:latin typeface="Calibri"/>
              </a:rPr>
              <a:t>EBITDA du mois 36 : −3 k€ ; charges fixes ≈ 66 k€/mois (11 personnes).</a:t>
            </a:r>
          </a:p>
          <a:p>
            <a:pPr algn="l"/>
            <a:r>
              <a:rPr sz="1300" b="0" i="0">
                <a:solidFill>
                  <a:srgbClr val="14233A"/>
                </a:solidFill>
                <a:latin typeface="Calibri"/>
              </a:rPr>
              <a:t>MVP passé en charges (prudence).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BUSINESS PLAN — VIABILITÉ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Point mort : M38 en central — l'objectif M36 n'est pas atteint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63093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371600"/>
                <a:gridCol w="13716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Pessimiste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Optimiste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Domaines Direct M36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478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595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CA 2029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279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649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859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EBITDA du mois 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−26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−3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16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Point mort mensuel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non atteint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M38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M32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Trésorerie M36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−38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181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433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14800"/>
            <a:ext cx="6309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2A7F87"/>
                </a:solidFill>
                <a:latin typeface="Calibri"/>
              </a:rPr>
              <a:t>CE QU'IL FAUDRAIT POUR M36 (central)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480560"/>
          <a:ext cx="6309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18872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Levier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Requis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ARPA (€/mois)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94 €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103 €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Productivité des 3 sales (×)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×1,00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×1,15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Logisticiens en marque blanche à M36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Combinaison : Pro par défaut (ARPA 99 €) + 5e licence marque blanche (M30)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94 € / 4 licences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233A"/>
                          </a:solidFill>
                          <a:latin typeface="Calibri"/>
                        </a:rPr>
                        <a:t>99 € / 5 licences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ebitda_mensu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80160"/>
            <a:ext cx="4572000" cy="24308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0" y="3749039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Sans marque blanche : point mort M42 ; sans frais logisticien : M42.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La résiliation seule ne suffit pas, même à 1 %.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Pessimiste : 14 domaines à M12 → pas de seed → pivot vers la seule offre Partner, ou arrêt.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4233A"/>
                </a:solidFill>
                <a:latin typeface="Calibri"/>
              </a:rPr>
              <a:t>• Je montre le vrai résultat plutôt que d'ajuster les hypothèses.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BUSINESS PLAN — BESOIN FINANCIER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Besoin de financement : 890 k€ en deux temps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5852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2801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Montant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Quand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Apport du fondateur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10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M0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Prêt d'honneur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40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M0-M2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Bourse French Tech BPI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30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M2-M4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Prêt bancaire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60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Pré-amorçage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140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Seed : business angels + fonds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550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M12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Seed : prêt d'amorçage BPI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200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M12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Total 3 ans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33A"/>
                          </a:solidFill>
                          <a:latin typeface="Calibri"/>
                        </a:rPr>
                        <a:t>890 k€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tresor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572000" cy="26223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4023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Seed = point bas sans levée + 6 mois de burn. Point bas avant seed : 51 k€ à M11 → levée engagée dès M8.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Affectation : équipe commerciale et réseau 45 %, produit 30 %, marketing Europe 10 %, customer success 5 %, juridique 3 %, réserve 7 %.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Valorisation avant levée de 2 à 2,5 M€ [HYP] → dilution de 18 à 22 %.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74920"/>
            <a:ext cx="5852160" cy="1097280"/>
          </a:xfrm>
          <a:prstGeom prst="roundRect">
            <a:avLst>
              <a:gd name="adj" fmla="val 8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539496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Pérennité : trésorerie positive sur 36 mois (181 k€ à M36), rentable à M38 sans nouvelle levée.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RISQUES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Démonstration n°2 : risques évalués et justifiés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91840"/>
                <a:gridCol w="411480"/>
                <a:gridCol w="411480"/>
                <a:gridCol w="594360"/>
                <a:gridCol w="3108960"/>
                <a:gridCol w="269748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Risque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Crit.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Prévention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Plan B / alerte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Les domaines ne paient pas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8 pré-ventes avec acompte avant le MVP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Pivot Partner / &lt; 4 pré-ventes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Seed non obtenue (point bas 51 k€ à M11)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Levée dès M8, jalons publics, relais BPI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Plan V1 France / pas de LOI à M10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Ouverture IT/ES plus lente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Recrutement par jalons, rampe de 4 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Reporter l'Espagne / &lt; 50 % du quota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Hypothèses IT/ES non mesurées ; Espagne saturée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18 entretiens IT/ES avant recrutement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Objectifs revus / &lt; 30 % qualifiés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Concurrent gratuit (MBE Wine, Hillebrand)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Neutralité, vitesse, agences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En faire des clients Partner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R8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Agences peu actives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Commission à vie, Gold, certification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2ᵉ sales FR / &lt; 70 % actives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Pas de lead dev / CTO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Recrutement M10 avec BSPCE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CTO à temps partagé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R7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Marque blanche vs neutralité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 marques, portabilité, mêmes conditions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Limiter au niveau Business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Situation du porteur vis-à-vis de son employeur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Projet scolaire ; aucune donnée ni code de l'employeur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8C2F39"/>
                </a:solidFill>
                <a:latin typeface="Calibri"/>
              </a:rPr>
              <a:t>17 risques notés P × I (détail en annexe). Les 5 plus critiques sont commerciaux, financiers et d'exécution. Règle automatique : aucune embauche si la trésorerie couvre moins de 6 mois de burn.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TABLEAUX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Démonstration n°3 : un KPI, une cible du BP, un responsable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280160"/>
                <a:gridCol w="1737360"/>
                <a:gridCol w="1737360"/>
                <a:gridCol w="155448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Responsable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2029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 écart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Nouveaux domaines Direct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Dirigeant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Revue canal par canal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Signatures Sales FR / IT / 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Chaque sales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51 / 30 / 11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80 / 64 / 50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Plan de progrès 60 j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Domaines via agences / apporteurs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Partner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 /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32 / 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100 / 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Animation, Gold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Licences marque blanche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Dirigeant + PM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Revoir l'offre Partner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Résiliation mensuelle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Customer success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≤ 1,5 %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≤ 1,5 %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≤ 1,5 %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Entretien de départ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ARPA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Customer success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94 €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94 €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≥ 94 € (99 visé)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Pro par défaut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Revenu récurrent annualisé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Dirigeant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42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284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725 k€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Upsell, prix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CAC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Dirigeant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812 €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1 537 €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1 079 €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Couper le canal le plus cher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Runway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Dirigeant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≥ 6 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≥ 12 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≥ 6 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233A"/>
                          </a:solidFill>
                          <a:latin typeface="Calibri"/>
                        </a:rPr>
                        <a:t>Gel automatique des embauches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5E6673"/>
                </a:solidFill>
                <a:latin typeface="Calibri"/>
              </a:rPr>
              <a:t>26 KPI au total (formule, source, fréquence) dans l'annexe Excel, onglet Tableaux_de_bord : les cibles sont lues dans le même modèle que le BP.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 i="0">
                <a:solidFill>
                  <a:srgbClr val="2A7F87"/>
                </a:solidFill>
                <a:latin typeface="Calibri"/>
              </a:rPr>
              <a:t>ANNEXES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14233A"/>
                </a:solidFill>
                <a:latin typeface="Calibri"/>
              </a:rPr>
              <a:t>Annexes : validation, sources, ce qui n'est pas vérifié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5E6673"/>
                </a:solidFill>
                <a:latin typeface="Calibri"/>
              </a:rPr>
              <a:t>PASSAVIN · nom de travail provisoire · Dossier Bloc 3 · V2 · [Nom Prénom]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E6673"/>
                </a:solidFill>
                <a:latin typeface="Calibri"/>
              </a:rPr>
              <a:t>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53949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GO seed (M10-M12)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Seuil</a:t>
                      </a:r>
                    </a:p>
                  </a:txBody>
                  <a:tcPr marL="54864" marR="54864" marT="27432" marB="27432" anchor="ctr">
                    <a:solidFill>
                      <a:srgbClr val="1423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Domaines payants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≥ 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Revenu récurrent mensuel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≥ 3 000 €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Résiliation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≤ 2 %/mois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Logisticiens intégrés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≥ 2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Lettre d'intention de licence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≥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Entretiens en Italie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33A"/>
                          </a:solidFill>
                          <a:latin typeface="Calibri"/>
                        </a:rPr>
                        <a:t>≥ 10</a:t>
                      </a:r>
                    </a:p>
                  </a:txBody>
                  <a:tcPr marL="54864" marR="54864" marT="27432" marB="27432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3258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4233A"/>
                </a:solidFill>
                <a:latin typeface="Calibri"/>
              </a:rPr>
              <a:t>• Sources : FranceAgriMer, Agreste, Afnic (2025), ISTAT, ICQRF, Mediobanca, INE, OIVE/AEAT, Destatis/DWI, ViniPortugal, Eurostat, WMTips (2026), Shopify, sites des concurrents.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Annexe financière : annexes/BP_3ans.xlsx (12 onglets : hypothèses, production par ressource, mensuel ×3, pays et CMS, marque blanche, financement, recrutement, tableaux de bord, leviers).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Modèle reproductible : bp_model.py → build_annexes.py → build_decks.py.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8C2F39"/>
                </a:solidFill>
                <a:latin typeface="Calibri"/>
              </a:rPr>
              <a:t>NON VÉRIFIÉ — À MESURER EN 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Parts « vend en ligne » IT (25 %), ES (50 %), DE (25 %) et toutes les parts « export particuliers » ; base Portugal (3 000) ; CMS réellement utilisés par les caves.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Disposition à payer (49-199 €), frais logisticien de 1,50 €, licence Partner ; temps de ressaisie (12 min) ; commission PrestaShop Addons.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4233A"/>
                </a:solidFill>
                <a:latin typeface="Calibri"/>
              </a:rPr>
              <a:t>• Chiffres lus dans la presse (ISTAT, AEAT, Mediobanca) ou dans des résumés (ISMEA) : à vérifier dans la source primaire avant usage public.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