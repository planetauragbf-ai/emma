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2480" y="-1371600"/>
            <a:ext cx="5486400" cy="5486400"/>
          </a:xfrm>
          <a:prstGeom prst="ellipse">
            <a:avLst/>
          </a:prstGeom>
          <a:solidFill>
            <a:srgbClr val="1E3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3566160"/>
            <a:ext cx="2377440" cy="2377440"/>
          </a:xfrm>
          <a:prstGeom prst="ellipse">
            <a:avLst/>
          </a:prstGeom>
          <a:solidFill>
            <a:srgbClr val="8C2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PASSAVIN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971800"/>
            <a:ext cx="1097280" cy="82296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8686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libri"/>
              </a:rPr>
              <a:t>Le connecteur neutre entre la boutique en ligne des domaines et les logisticiens vin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E9DFCF"/>
                </a:solidFill>
                <a:latin typeface="Calibri"/>
              </a:rPr>
              <a:t>Dossier de présentation investisseurs — Bloc 3 Euridis · Mastère Marketing &amp; Digital Business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E9DFCF"/>
                </a:solidFill>
                <a:latin typeface="Calibri"/>
              </a:rPr>
              <a:t>[Nom Prénom] · [Promotion] · Octobre 2026 · Nom de travail provisoire, sous réserve des vérifications INPI/EUIPO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EN UNE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Résumé investisseur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72768"/>
            <a:ext cx="22402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≈ 9 000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4028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E9DFCF"/>
                </a:solidFill>
                <a:latin typeface="Calibri"/>
              </a:rPr>
              <a:t>domaines vendent déjà en ligne via leur site (21 % des producteurs, Afnic 2025)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46304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572768"/>
            <a:ext cx="22402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8C2F39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24028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seul plugin vin trouvé sur WooCommerce : mono-logisticien, &lt; 10 installations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6304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72768"/>
            <a:ext cx="22402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8C2F39"/>
                </a:solidFill>
                <a:latin typeface="Calibri"/>
              </a:rPr>
              <a:t>181 k€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24028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ARR visé fin 2029 (scénario central, 170 clients)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46304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572768"/>
            <a:ext cx="22402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8C2F39"/>
                </a:solidFill>
                <a:latin typeface="Calibri"/>
              </a:rPr>
              <a:t>320 k€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24028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besoin total sur 3 ans, en 2 tranches conditionnées à des jalons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48640" y="320040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108960"/>
                <a:gridCol w="2651760"/>
                <a:gridCol w="2560320"/>
              </a:tblGrid>
              <a:tr h="10058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Problème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Modèle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Statut honnête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Ressaisie des commandes étrangères, pays non livrables proposés au panier, frais de port faux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Extension WooCommerce + moteur cloud : éligibilité au checkout, transmission automatique, suivi, multi-logisticiens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Abonnement 49-199 €/mois + installation + frais de plateforme logisticien (à valider)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Aucun client payant. Verdict : modifier puis tester avant d'investir (≈ 3 mois, &lt; 8 k€)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440680"/>
            <a:ext cx="106070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Nous demandons : 120 k€ (prêt d'honneur, BPI, banque) pour valider et livrer le MVP — puis 200 k€ seed à M15-M18, seulement si les jalons sont atteints.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VISION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Start with why : aucun vin ne devrait rester à quai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5760720" cy="3200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14233A"/>
                </a:solidFill>
                <a:latin typeface="Calibri"/>
              </a:rPr>
              <a:t>Au XIXᵉ siècle, aucun vin ne circulait sans « passavant », le laissez-passer des douanes.</a:t>
            </a:r>
          </a:p>
          <a:p>
            <a:pPr algn="l"/>
            <a:r>
              <a:rPr sz="1600" b="0" i="0">
                <a:solidFill>
                  <a:srgbClr val="14233A"/>
                </a:solidFill>
                <a:latin typeface="Calibri"/>
              </a:rPr>
              <a:t/>
            </a:r>
          </a:p>
          <a:p>
            <a:pPr algn="l"/>
            <a:r>
              <a:rPr sz="1600" b="0" i="0">
                <a:solidFill>
                  <a:srgbClr val="14233A"/>
                </a:solidFill>
                <a:latin typeface="Calibri"/>
              </a:rPr>
              <a:t>Aujourd'hui, un domaine qui vend en ligne à un client suisse, belge ou singapourien perd encore du temps — et parfois la vente — entre sa boutique et son logisticien.</a:t>
            </a:r>
          </a:p>
          <a:p>
            <a:pPr algn="l"/>
            <a:r>
              <a:rPr sz="1600" b="0" i="0">
                <a:solidFill>
                  <a:srgbClr val="14233A"/>
                </a:solidFill>
                <a:latin typeface="Calibri"/>
              </a:rPr>
              <a:t/>
            </a:r>
          </a:p>
          <a:p>
            <a:pPr algn="l"/>
            <a:r>
              <a:rPr sz="1600" b="0" i="0">
                <a:solidFill>
                  <a:srgbClr val="14233A"/>
                </a:solidFill>
                <a:latin typeface="Calibri"/>
              </a:rPr>
              <a:t>Passavin veut que chaque bouteille vendue en ligne puisse partir, sans ressaisie, vers toutes les destinations réellement livrables.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463040"/>
            <a:ext cx="49377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160020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A7F87"/>
                </a:solidFill>
                <a:latin typeface="Calibri"/>
              </a:rPr>
              <a:t>SOURCES DE MOTIVATION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011680"/>
            <a:ext cx="4480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4233A"/>
                </a:solidFill>
                <a:latin typeface="Calibri"/>
              </a:rPr>
              <a:t>• Expérience terrain du porteur : commercial dans le transport de vin pour particuliers à l'international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4233A"/>
                </a:solidFill>
                <a:latin typeface="Calibri"/>
              </a:rPr>
              <a:t>• Constat répété d'intégrations refaites « une par une » dans l'écosystème d'un logisticien (signal observé chez Planet Aura — pas des clients de Passavin)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4233A"/>
                </a:solidFill>
                <a:latin typeface="Calibri"/>
              </a:rPr>
              <a:t>• Volonté de bâtir une entreprise indépendante, neutre entre logisticiens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4233A"/>
                </a:solidFill>
                <a:latin typeface="Calibri"/>
              </a:rPr>
              <a:t>• Approche pragmatique : un seul produit, un seul CMS, tester avant de coder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ENVIRONNEMENT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Un environnement sous pression, qui pousse vers la vente directe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72768"/>
            <a:ext cx="22402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59 032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4028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E9DFCF"/>
                </a:solidFill>
                <a:latin typeface="Calibri"/>
              </a:rPr>
              <a:t>exploitations viticoles (Agreste, RA 2020)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46304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572768"/>
            <a:ext cx="22402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8C2F39"/>
                </a:solidFill>
                <a:latin typeface="Calibri"/>
              </a:rPr>
              <a:t>14,3 Md€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24028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exportations vins &amp; spiritueux 2025, −8 % (FEVS)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46304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72768"/>
            <a:ext cx="22402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8C2F39"/>
                </a:solidFill>
                <a:latin typeface="Calibri"/>
              </a:rPr>
              <a:t>27 %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24028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des exploitations qui commercialisent du vin vendent en direct (Agreste 2023)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46304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572768"/>
            <a:ext cx="224028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 i="0">
                <a:solidFill>
                  <a:srgbClr val="8C2F39"/>
                </a:solidFill>
                <a:latin typeface="Calibri"/>
              </a:rPr>
              <a:t>+15 %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240280"/>
            <a:ext cx="224028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droits de douane américains sur les vins UE depuis août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20040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4233A"/>
                </a:solidFill>
                <a:latin typeface="Calibri"/>
              </a:rPr>
              <a:t>• Les domaines diversifient leurs débouchés : vente directe, Europe, Asie — là où l'expédition aux particuliers est possible mais complexe.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4233A"/>
                </a:solidFill>
                <a:latin typeface="Calibri"/>
              </a:rPr>
              <a:t>• Depuis le 13/02/2023, la vente à distance intra-UE impose accises et TVA du pays de destination, souvent avec représentant fiscal (directive UE 2020/262) : 27 régimes à gérer.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4233A"/>
                </a:solidFill>
                <a:latin typeface="Calibri"/>
              </a:rPr>
              <a:t>• Les transporteurs filtrent l'alcool : FedEx refuse l'international aux particuliers, Packlink exclut le vin hors UE, UPS exige un contrat alcool.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4233A"/>
                </a:solidFill>
                <a:latin typeface="Calibri"/>
              </a:rPr>
              <a:t>• Conséquence : le domaine dépend de logisticiens spécialisés vin — dont les outils ne sont pas branchés sur sa boutique.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SITUATION ACTUELLE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Pourquoi maintenant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206240"/>
                <a:gridCol w="3931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Tendance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Donnée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Effet pour Passavin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Digitalisation des vignerons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79 % ont un site, 21 % vendent en ligne (Afnic, déc. 2025)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Base installée de boutiques à connecter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Achat de vin en ligne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34 % des consommateurs en 2024 (Sowine via Xerfi)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Marché mûr, croissance « normalisée »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Export en baisse vers les États-Unis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−21 % en 2025 (FEVS)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Report vers UE, Royaume-Uni, Suisse, Asie : nos destinations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Réglementation intra-UE 2023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Accises du pays de destination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Besoin de logisticiens spécialisés → besoin de connecteurs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Logisticiens qui ouvrent des API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Hillebrand Gori, Planet Aura (API déclarées)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Rend le connecteur techniquement possible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25780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57800"/>
            <a:ext cx="1060704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Point d'attention : la contrainte budgétaire des domaines augmente aussi. Le prix d'entrée doit être bas et le gain démontré en démo.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Le problème : trois frictions entre « vendre » et « livrer 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204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8C2F39"/>
                </a:solidFill>
                <a:latin typeface="Calibri"/>
              </a:rPr>
              <a:t>01 · Avant la vente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3108960" cy="2286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14233A"/>
                </a:solidFill>
                <a:latin typeface="Calibri"/>
              </a:rPr>
              <a:t>La boutique propose des pays où aucun logisticien ne livre le vin, avec un forfait de port approximatif → commande annulée ou vendue à perte.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554480"/>
            <a:ext cx="35204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79" y="173736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8C2F39"/>
                </a:solidFill>
                <a:latin typeface="Calibri"/>
              </a:rPr>
              <a:t>02 · Après la vente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79" y="2286000"/>
            <a:ext cx="3108960" cy="2286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14233A"/>
                </a:solidFill>
                <a:latin typeface="Calibri"/>
              </a:rPr>
              <a:t>La commande est ressaisie à la main dans le portail ou le fichier du logisticien : ≈ 12 min par commande étrangère [hypothèse à mesurer].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554480"/>
            <a:ext cx="352044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173736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8C2F39"/>
                </a:solidFill>
                <a:latin typeface="Calibri"/>
              </a:rPr>
              <a:t>03 · Après l'expédition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286000"/>
            <a:ext cx="3108960" cy="2286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0">
                <a:solidFill>
                  <a:srgbClr val="14233A"/>
                </a:solidFill>
                <a:latin typeface="Calibri"/>
              </a:rPr>
              <a:t>Le numéro de suivi est recopié à la main ; le client inquiet écrit ; les incidents se gèrent par mail.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1060704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Qui souffre le plus ? Le domaine (temps, ventes perdues) — mais aussi le logisticien, qui paie chaque intégration sur mesure. D'où un modèle à deux faces, à valider.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PROBLÈME — CE QUI EST VALIDÉ / CE QUI NE L'EST PAS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Le problème est réel, son ampleur n'est pas encore prouvée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07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3291840"/>
                <a:gridCol w="30175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Affirmation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Statut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Comment le prouver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Les intégrations logistiques sont faites au cas par cas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Observé (écosystème Planet Aura : 10 réalisées)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Entretiens 4 logisticiens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Les génériques gèrent mal l'alcool international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Vérifié (Packlink, FedEx, ShipStation)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Un plugin vin existe mais n'est pas adopté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Vérifié (Hillebrand Gori : &lt; 10 installations)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Comprendre pourquoi (3 entretiens)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≈ 12 min de ressaisie par commande étrangère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33A"/>
                          </a:solidFill>
                          <a:latin typeface="Calibri"/>
                        </a:rPr>
                        <a:t>Hypothèse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Chronométrage chez 25 domaines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≥ 30 % des domaines WooCommerce font ≥ 10 commandes étrangères/mois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33A"/>
                          </a:solidFill>
                          <a:latin typeface="Calibri"/>
                        </a:rPr>
                        <a:t>Hypothèse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Entretiens + scan de sites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Les domaines paieront ≥ 49 €/mois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4233A"/>
                          </a:solidFill>
                          <a:latin typeface="Calibri"/>
                        </a:rPr>
                        <a:t>Hypothèse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4233A"/>
                          </a:solidFill>
                          <a:latin typeface="Calibri"/>
                        </a:rPr>
                        <a:t>Van Westendorp + 8 pré-ventes avec acompte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La solution : votre boutique, branchée à vos logisticiens vin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60704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« Au panier, vos clients étrangers ne voient que les destinations réellement livrables, au bon prix. Après l'achat, la commande part chez le logisticien et le suivi revient tout seul. 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4320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2A7F87"/>
                </a:solidFill>
                <a:latin typeface="Calibri"/>
              </a:rPr>
              <a:t>Moins de ventes perdues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00400"/>
            <a:ext cx="3108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4233A"/>
                </a:solidFill>
                <a:latin typeface="Calibri"/>
              </a:rPr>
              <a:t>Pays non livrables masqués, tarifs réels des logisticiens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260604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274320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2A7F87"/>
                </a:solidFill>
                <a:latin typeface="Calibri"/>
              </a:rPr>
              <a:t>Zéro ressaisie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3200400"/>
            <a:ext cx="3108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4233A"/>
                </a:solidFill>
                <a:latin typeface="Calibri"/>
              </a:rPr>
              <a:t>Transmission automatique ou validée en un clic ; objectif &lt; 1 min/commande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2606040"/>
            <a:ext cx="35204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274320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2A7F87"/>
                </a:solidFill>
                <a:latin typeface="Calibri"/>
              </a:rPr>
              <a:t>Liberté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200400"/>
            <a:ext cx="3108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4233A"/>
                </a:solidFill>
                <a:latin typeface="Calibri"/>
              </a:rPr>
              <a:t>Plusieurs logisticiens, bascule sans redévelopper ; neutralité contractuelle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4233A"/>
                </a:solidFill>
                <a:latin typeface="Calibri"/>
              </a:rPr>
              <a:t>• Ce que Passavin ne promet pas : une conformité réglementaire automatique. Les règles d'éligibilité sont fournies et garanties par chaque logisticien ; Passavin les applique.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4233A"/>
                </a:solidFill>
                <a:latin typeface="Calibri"/>
              </a:rPr>
              <a:t>• Pas d'envoi direct à des particuliers aux États-Unis (interdit : système three-tier).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PRODUIT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Le parcours, étape par étape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09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463040"/>
            <a:ext cx="1536192" cy="640080"/>
          </a:xfrm>
          <a:prstGeom prst="homePlate">
            <a:avLst>
              <a:gd name="adj" fmla="val 35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63040"/>
            <a:ext cx="1078992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76272"/>
            <a:ext cx="1536192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Connexion du logisticien, contrôle des fiches produits</a:t>
            </a:r>
          </a:p>
        </p:txBody>
      </p:sp>
      <p:sp>
        <p:nvSpPr>
          <p:cNvPr id="10" name="Chevron 9"/>
          <p:cNvSpPr/>
          <p:nvPr/>
        </p:nvSpPr>
        <p:spPr>
          <a:xfrm>
            <a:off x="2194560" y="1463040"/>
            <a:ext cx="1536192" cy="640080"/>
          </a:xfrm>
          <a:prstGeom prst="chevron">
            <a:avLst>
              <a:gd name="adj" fmla="val 35000"/>
            </a:avLst>
          </a:prstGeom>
          <a:solidFill>
            <a:srgbClr val="2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79" y="1463040"/>
            <a:ext cx="1078992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Checkout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176272"/>
            <a:ext cx="1536192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Éligibilité pays + tarif via API logisticiens</a:t>
            </a:r>
          </a:p>
        </p:txBody>
      </p:sp>
      <p:sp>
        <p:nvSpPr>
          <p:cNvPr id="13" name="Chevron 12"/>
          <p:cNvSpPr/>
          <p:nvPr/>
        </p:nvSpPr>
        <p:spPr>
          <a:xfrm>
            <a:off x="3840479" y="1463040"/>
            <a:ext cx="1536192" cy="640080"/>
          </a:xfrm>
          <a:prstGeom prst="chevron">
            <a:avLst>
              <a:gd name="adj" fmla="val 35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9" y="1463040"/>
            <a:ext cx="1078992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Paiement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79" y="2176272"/>
            <a:ext cx="1536192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Passerelle du domaine (aucun flux financier chez nous)</a:t>
            </a:r>
          </a:p>
        </p:txBody>
      </p:sp>
      <p:sp>
        <p:nvSpPr>
          <p:cNvPr id="16" name="Chevron 15"/>
          <p:cNvSpPr/>
          <p:nvPr/>
        </p:nvSpPr>
        <p:spPr>
          <a:xfrm>
            <a:off x="5486399" y="1463040"/>
            <a:ext cx="1536192" cy="640080"/>
          </a:xfrm>
          <a:prstGeom prst="chevron">
            <a:avLst>
              <a:gd name="adj" fmla="val 35000"/>
            </a:avLst>
          </a:prstGeom>
          <a:solidFill>
            <a:srgbClr val="2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19" y="1463040"/>
            <a:ext cx="1078992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Pré-contrôle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399" y="2176272"/>
            <a:ext cx="1536192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Adresse, téléphone, colis, valeur ; anomalies en file</a:t>
            </a:r>
          </a:p>
        </p:txBody>
      </p:sp>
      <p:sp>
        <p:nvSpPr>
          <p:cNvPr id="19" name="Chevron 18"/>
          <p:cNvSpPr/>
          <p:nvPr/>
        </p:nvSpPr>
        <p:spPr>
          <a:xfrm>
            <a:off x="7132319" y="1463040"/>
            <a:ext cx="1536192" cy="640080"/>
          </a:xfrm>
          <a:prstGeom prst="chevron">
            <a:avLst>
              <a:gd name="adj" fmla="val 35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1463040"/>
            <a:ext cx="1078992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Transmission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19" y="2176272"/>
            <a:ext cx="1536192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Ordre d'expédition créé chez le logisticien choisi</a:t>
            </a:r>
          </a:p>
        </p:txBody>
      </p:sp>
      <p:sp>
        <p:nvSpPr>
          <p:cNvPr id="22" name="Chevron 21"/>
          <p:cNvSpPr/>
          <p:nvPr/>
        </p:nvSpPr>
        <p:spPr>
          <a:xfrm>
            <a:off x="8778240" y="1463040"/>
            <a:ext cx="1536192" cy="640080"/>
          </a:xfrm>
          <a:prstGeom prst="chevron">
            <a:avLst>
              <a:gd name="adj" fmla="val 35000"/>
            </a:avLst>
          </a:prstGeom>
          <a:solidFill>
            <a:srgbClr val="2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1463040"/>
            <a:ext cx="1078992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Suivi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176272"/>
            <a:ext cx="1536192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Statuts récupérés, mail client envoyé</a:t>
            </a:r>
          </a:p>
        </p:txBody>
      </p:sp>
      <p:sp>
        <p:nvSpPr>
          <p:cNvPr id="25" name="Chevron 24"/>
          <p:cNvSpPr/>
          <p:nvPr/>
        </p:nvSpPr>
        <p:spPr>
          <a:xfrm>
            <a:off x="10424159" y="1463040"/>
            <a:ext cx="1536192" cy="640080"/>
          </a:xfrm>
          <a:prstGeom prst="chevron">
            <a:avLst>
              <a:gd name="adj" fmla="val 35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98480" y="1463040"/>
            <a:ext cx="1078992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Pilotage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59" y="2176272"/>
            <a:ext cx="1536192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Délais, coûts, incidents par pays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48640" y="3154680"/>
          <a:ext cx="110642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0408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Risque d'erreur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Traitement prévu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API logisticien lente ou indisponible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Cache des grilles 24 h + tarif de repli ; 3 nouvelles tentatives puis alerte et export PDF/CSV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Fiche produit incomplète (degré, contenance, appellation)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Tableau de complétude bloquant à l'installation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Destination non couverte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Message clair au client + formulaire de demande de devis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Statut figé &gt; 5 jours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Alerte au domaine ; procédure casse/perte du logisticien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Données personnelles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Passavin sous-traitant RGPD du domaine, DPA, hébergement UE, transmission au seul logisticien choisi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PRODUIT — STRATÉGIE DE LANCEMENT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MVP : une extension WooCommerce, pas quatre produits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766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005840"/>
                <a:gridCol w="1097280"/>
                <a:gridCol w="1005840"/>
                <a:gridCol w="10058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Coût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Délai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Scalable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Choix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Extension WooCommerce + moteur cloud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25-35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3-4 mois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Oui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33A"/>
                          </a:solidFill>
                          <a:latin typeface="Calibri"/>
                        </a:rPr>
                        <a:t>✔ Retenu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SaaS multi-CMS d'emblée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80-120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8-12 mois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Oui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Trop tôt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Création de boutiques (ex-Planet'Shop)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Temps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Immédiat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Non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✘ Abandonné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Modèle combiné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60 k€ +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6-9 mois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Moyen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✘ Dispersion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589520" y="1463040"/>
            <a:ext cx="402336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6002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A7F87"/>
                </a:solidFill>
                <a:latin typeface="Calibri"/>
              </a:rPr>
              <a:t>PÉRIMÈTRE MVP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1965960"/>
            <a:ext cx="3657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Méthode d'expédition avec éligibilité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2 adaptateurs logisticiens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Transmission + suivi automatiques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File d'anomalies, tableau de bord simple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Facturation Stripe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02336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A7F87"/>
                </a:solidFill>
                <a:latin typeface="Calibri"/>
              </a:rPr>
              <a:t>PLUS TARD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4389120"/>
            <a:ext cx="3657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Shopify (an 2-3), PrestaShop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Droits &amp; taxes en temps réel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Marque blanche logisticiens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6766560" cy="1463040"/>
          </a:xfrm>
          <a:prstGeom prst="roundRect">
            <a:avLst>
              <a:gd name="adj" fmla="val 8000"/>
            </a:avLst>
          </a:prstGeom>
          <a:solidFill>
            <a:srgbClr val="2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480560"/>
            <a:ext cx="6309360" cy="1463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Ressources : 60 jours de développement freelance (≈ 30 k€) + porteur en product owner. Prérequis : accès bac à sable de 2 logisticiens, signés.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MARCHÉ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Un marché de niche : il faut le dire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6400800" cy="4434840"/>
          </a:xfrm>
          <a:prstGeom prst="roundRect">
            <a:avLst>
              <a:gd name="adj" fmla="val 8000"/>
            </a:avLst>
          </a:prstGeom>
          <a:solidFill>
            <a:srgbClr val="E9DF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36192"/>
            <a:ext cx="60350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8C2F39"/>
                </a:solidFill>
                <a:latin typeface="Calibri"/>
              </a:rPr>
              <a:t>TAM France — 5 000 – 9 000 domaines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20"/>
            <a:ext cx="6035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5E6673"/>
                </a:solidFill>
                <a:latin typeface="Calibri"/>
              </a:rPr>
              <a:t>vendent en ligne via leur site · 7-13 M€/an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514600"/>
            <a:ext cx="5760720" cy="338327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87752"/>
            <a:ext cx="539495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8C2F39"/>
                </a:solidFill>
                <a:latin typeface="Calibri"/>
              </a:rPr>
              <a:t>SAM an 3 — ≈ 1 300 – 2 400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26080"/>
            <a:ext cx="5394959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5E6673"/>
                </a:solidFill>
                <a:latin typeface="Calibri"/>
              </a:rPr>
              <a:t>+ Shopify et PrestaShop [hyp. ×2,5]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19" y="3566160"/>
            <a:ext cx="5120640" cy="2331720"/>
          </a:xfrm>
          <a:prstGeom prst="roundRect">
            <a:avLst>
              <a:gd name="adj" fmla="val 8000"/>
            </a:avLst>
          </a:prstGeom>
          <a:solidFill>
            <a:srgbClr val="EE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599" y="3639312"/>
            <a:ext cx="475487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8C2F39"/>
                </a:solidFill>
                <a:latin typeface="Calibri"/>
              </a:rPr>
              <a:t>SAM an 1-2 — ≈ 500 –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599" y="3977639"/>
            <a:ext cx="4754879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5E6673"/>
                </a:solidFill>
                <a:latin typeface="Calibri"/>
              </a:rPr>
              <a:t>WooCommerce × export particuliers [hyp. 35 % × 30 %]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08760" y="4617720"/>
            <a:ext cx="4480560" cy="1280160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91639" y="4690872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SOM fin 2029 — 170 clients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39" y="5029200"/>
            <a:ext cx="4114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E9DFCF"/>
                </a:solidFill>
                <a:latin typeface="Calibri"/>
              </a:rPr>
              <a:t>scénario central · 0,23 M€ récurrent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315200" y="1463040"/>
          <a:ext cx="42976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21031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Niveau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Comptes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TAM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5-9 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43 000 producteurs × 21 %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SAM 1-2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500-950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× WooCommerce × export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SAM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1,3-2,4 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+ Shopify, PrestaShop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SOM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BP central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7315200" y="4206240"/>
            <a:ext cx="4297680" cy="1737360"/>
          </a:xfrm>
          <a:prstGeom prst="roundRect">
            <a:avLst>
              <a:gd name="adj" fmla="val 8000"/>
            </a:avLst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4206240"/>
            <a:ext cx="3840480" cy="1737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Alerte : le point mort (~210 clients) = 20-40 % du SAM WooCommerce. Viable seulement avec multi-CMS, canaux agences/logisticiens et extension Italie-Espagne.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89320"/>
            <a:ext cx="6400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1">
                <a:solidFill>
                  <a:srgbClr val="5E6673"/>
                </a:solidFill>
                <a:latin typeface="Calibri"/>
              </a:rPr>
              <a:t>Sources : Agreste, FranceAgriMer 2026, Afnic 2025. Les % WooCommerce et export sont des hypothèses à mesurer en phase 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CLIENTÈLE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Cible : ICP et personas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2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607040" cy="868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ICP : domaine indépendant de 10-60 ha, boutique WooCommerce active, 10-80 commandes/mois dont ≥ 20 % hors France, un logisticien vin déjà utilisé, 2-15 salariés.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51460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926080"/>
                <a:gridCol w="2834640"/>
              </a:tblGrid>
              <a:tr h="62179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Persona (illustratif)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Objectif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Frustration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Message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Claire, 42 ans, vigneronne-gérante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Vendre plus en direct à l'étranger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Ressaisies le soir, « où est mon colis ? »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Vos commandes étrangères partent sans ressaisie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Julien, 31 ans, resp. e-commerce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Conversion, abandons de panier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Pays impossibles proposés, ports faux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Plus aucun pays impossible au panier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Sophie, 38 ans, dirigeante d'agence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Revenus récurrents, moins de SAV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Intégrations refaites à chaque client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Une intégration maintenue + 20 % récurrent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Marc, dir. commercial logisticien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Plus d'expéditions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Coût des intégrations sur mesure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Vos API dans des centaines de boutiques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1">
                <a:solidFill>
                  <a:srgbClr val="5E6673"/>
                </a:solidFill>
                <a:latin typeface="Calibri"/>
              </a:rPr>
              <a:t>Personas construits à partir d'hypothèses ; ils seront remplacés par des personas issus des 25 entretiens de la phase 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ANALYSE DE LA CONCURRENCE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Concurrence : l'idée existe déjà… en partie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242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3291840"/>
                <a:gridCol w="1737360"/>
                <a:gridCol w="246888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Acteur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Ce qu'il fait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Prix public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Limite pour notre cible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Hillebrand Gori eShipping (DHL)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Expédition vin B2C dès 1 bouteille, plugin Woo/PrestaShop, API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À l'envoi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Mono-logisticien, &lt; 10 installations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VinTrail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E-boutique + logistique droits inclus, 44 pays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Commission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Plateforme propriétaire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Baqio, Wineriz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Indirect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Gestion commerciale / e-shop vin + transport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Devis ; dès 129 €/mois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Remplacent la boutique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Sendcloud, Boxtal, Packlink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Substitut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Multi-transporteurs, étiquettes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0-599 €/mois ; par envoi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Alcool international mal ou pas couvert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Commerce7, Vinoshipper, Sovos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Référence 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DTC + conformité État par État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59-1 249 $/mois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Marché domestique américain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Vivino, Plugwine, Les Grappes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Substitut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Marketplaces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Commission (ex. 20 %)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Le domaine perd la relation client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Agences web vin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Substitut / canal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Intégrations sur mesure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Boutique 6-25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Sur-mesure non maintenu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1">
                <a:solidFill>
                  <a:srgbClr val="5E6673"/>
                </a:solidFill>
                <a:latin typeface="Calibri"/>
              </a:rPr>
              <a:t>Sources : sites et grilles publiques des acteurs, wordpress.org (oct. 2026). Prix et périmètres déclaratifs.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AVANTAGES CONCURRENTIELS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Positionnement et proposition de valeur (USP)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66928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64992" y="1600200"/>
            <a:ext cx="27432" cy="4206240"/>
          </a:xfrm>
          <a:prstGeom prst="rect">
            <a:avLst/>
          </a:prstGeom>
          <a:solidFill>
            <a:srgbClr val="5E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685032"/>
            <a:ext cx="5394960" cy="27432"/>
          </a:xfrm>
          <a:prstGeom prst="rect">
            <a:avLst/>
          </a:prstGeom>
          <a:solidFill>
            <a:srgbClr val="5E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508760"/>
            <a:ext cx="2377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 i="0">
                <a:solidFill>
                  <a:srgbClr val="5E6673"/>
                </a:solidFill>
                <a:latin typeface="Calibri"/>
              </a:rPr>
              <a:t>Spécialisé vin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5623560"/>
            <a:ext cx="2377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 i="0">
                <a:solidFill>
                  <a:srgbClr val="5E6673"/>
                </a:solidFill>
                <a:latin typeface="Calibri"/>
              </a:rPr>
              <a:t>Généraliste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49039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5E6673"/>
                </a:solidFill>
                <a:latin typeface="Calibri"/>
              </a:rPr>
              <a:t>Fermé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749039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 i="0">
                <a:solidFill>
                  <a:srgbClr val="5E6673"/>
                </a:solidFill>
                <a:latin typeface="Calibri"/>
              </a:rPr>
              <a:t>Ouvert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011680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Hillebrand eShipping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560320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VinTrail · Baqio · Wineriz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297680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Sendcloud · Boxtal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754880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Packlink · Shippingbo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80560"/>
            <a:ext cx="2468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Marketplaces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2011680"/>
            <a:ext cx="2377440" cy="822960"/>
          </a:xfrm>
          <a:prstGeom prst="roundRect">
            <a:avLst>
              <a:gd name="adj" fmla="val 8000"/>
            </a:avLst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2011680"/>
            <a:ext cx="228600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★ Passavin
neutre, multi-logisticiens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1463040"/>
            <a:ext cx="5120640" cy="1737360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1463040"/>
            <a:ext cx="4663440" cy="1737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USP : le connecteur neutre qui branche votre boutique à plusieurs logisticiens vin — seules les destinations réellement livrables, au bon prix, et la commande part toute seule.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429000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4233A"/>
                </a:solidFill>
                <a:latin typeface="Calibri"/>
              </a:rPr>
              <a:t>• Barrière faible au jour 0 : vitesse et terrain du fondateur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4233A"/>
                </a:solidFill>
                <a:latin typeface="Calibri"/>
              </a:rPr>
              <a:t>• À construire : réseau de logisticiens intégrés, base de règles d'éligibilité, canal agences, neutralité contractuelle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4233A"/>
                </a:solidFill>
                <a:latin typeface="Calibri"/>
              </a:rPr>
              <a:t>✘ Exclu du discours : « le seul plugin vin » (faux)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Business model : abonnement + installation + deux 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3474720"/>
                <a:gridCol w="1828800"/>
                <a:gridCol w="15544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Qui paie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Logique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 du CA an 3 (central)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Décision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Abonnement SaaS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Domaine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Récurrent, cœur de la valorisation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61 %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✔ Cœur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Frais de plateforme / expédition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Logisticien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1,50 € par expédition acceptée, identique pour tous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21 %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À valider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Installation accompagnée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Domaine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490 € (190 € pilotes, 0 € via agence)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12 %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Services sur mesure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Domaine / agence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Plafond 15 % du CA, réutilisables uniquement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7 %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Encadré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Distribution agences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— (coût)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20 % récurrent reversé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✔ dès l'an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Création de boutiques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Non scalable, concurrence les agences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0 %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✘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48640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 revenu logisticien est présenté séparément : sans lui, il faut 284 clients au lieu de 210 pour atteindre le point mort.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BUSINESS MODEL — TARIFICATION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Prix et économie unitaire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85216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88720"/>
                <a:gridCol w="329184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Offre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€ HT/mois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Inclus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Essentiel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49 €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 logisticien, 30 expéditions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Pro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99 €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3 logisticiens, 150 expéditions, statistiques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Expert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199 €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Illimité, multi-boutiques, support prioritaire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Dépassement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0,90 €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par expédition au-delà du quota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Installation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490 €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paramétrage + formation 1 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709160"/>
            <a:ext cx="585216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5E6673"/>
                </a:solidFill>
                <a:latin typeface="Calibri"/>
              </a:rPr>
              <a:t>Annuel : 2 mois offerts. Mix supposé 50/35/15 → ARPA ≈ 89 €/mois. Argument : 20 commandes × 12 min ≈ 4 h/mois récupérées (~140 €).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0" y="1463040"/>
          <a:ext cx="493776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945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Indicateur (central)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Valeur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Contribution / client / mois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114 € (84 € sans logisticien)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82-92 %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CAC an 1 → an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545 → 1 271 €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Churn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1,5 %/mois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LTV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≈ 7 600 €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LTV / CAC (an 3)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≈ 6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Récupération du CAC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≈ 11 mois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STRATÉGIE — DÉCLINAISON DE LA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Stratégie : les étapes clés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17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463040"/>
            <a:ext cx="1536192" cy="640080"/>
          </a:xfrm>
          <a:prstGeom prst="homePlate">
            <a:avLst>
              <a:gd name="adj" fmla="val 35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63040"/>
            <a:ext cx="1078992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Sécuriser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76272"/>
            <a:ext cx="1536192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Nov. 2026 · avocat, accord employeur, CPI marque</a:t>
            </a:r>
          </a:p>
        </p:txBody>
      </p:sp>
      <p:sp>
        <p:nvSpPr>
          <p:cNvPr id="10" name="Chevron 9"/>
          <p:cNvSpPr/>
          <p:nvPr/>
        </p:nvSpPr>
        <p:spPr>
          <a:xfrm>
            <a:off x="2194560" y="1463040"/>
            <a:ext cx="1536192" cy="640080"/>
          </a:xfrm>
          <a:prstGeom prst="chevron">
            <a:avLst>
              <a:gd name="adj" fmla="val 35000"/>
            </a:avLst>
          </a:prstGeom>
          <a:solidFill>
            <a:srgbClr val="2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79" y="1463040"/>
            <a:ext cx="1078992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Découvrir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176272"/>
            <a:ext cx="1536192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Nov.-déc. 2026 · 25 domaines, 5 agences, 4 logisticiens</a:t>
            </a:r>
          </a:p>
        </p:txBody>
      </p:sp>
      <p:sp>
        <p:nvSpPr>
          <p:cNvPr id="13" name="Chevron 12"/>
          <p:cNvSpPr/>
          <p:nvPr/>
        </p:nvSpPr>
        <p:spPr>
          <a:xfrm>
            <a:off x="3840479" y="1463040"/>
            <a:ext cx="1536192" cy="640080"/>
          </a:xfrm>
          <a:prstGeom prst="chevron">
            <a:avLst>
              <a:gd name="adj" fmla="val 35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9" y="1463040"/>
            <a:ext cx="1078992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Pré-vendre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79" y="2176272"/>
            <a:ext cx="1536192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Janv.-fév. 2027 · maquette, ≥ 8 acomptes</a:t>
            </a:r>
          </a:p>
        </p:txBody>
      </p:sp>
      <p:sp>
        <p:nvSpPr>
          <p:cNvPr id="16" name="Chevron 15"/>
          <p:cNvSpPr/>
          <p:nvPr/>
        </p:nvSpPr>
        <p:spPr>
          <a:xfrm>
            <a:off x="5486399" y="1463040"/>
            <a:ext cx="1536192" cy="640080"/>
          </a:xfrm>
          <a:prstGeom prst="chevron">
            <a:avLst>
              <a:gd name="adj" fmla="val 35000"/>
            </a:avLst>
          </a:prstGeom>
          <a:solidFill>
            <a:srgbClr val="2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19" y="1463040"/>
            <a:ext cx="1078992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Construire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399" y="2176272"/>
            <a:ext cx="1536192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Mars-juin 2027 · MVP, 5 pilotes, 2 logisticiens</a:t>
            </a:r>
          </a:p>
        </p:txBody>
      </p:sp>
      <p:sp>
        <p:nvSpPr>
          <p:cNvPr id="19" name="Chevron 18"/>
          <p:cNvSpPr/>
          <p:nvPr/>
        </p:nvSpPr>
        <p:spPr>
          <a:xfrm>
            <a:off x="7132319" y="1463040"/>
            <a:ext cx="1536192" cy="640080"/>
          </a:xfrm>
          <a:prstGeom prst="chevron">
            <a:avLst>
              <a:gd name="adj" fmla="val 35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1463040"/>
            <a:ext cx="1078992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Vendre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19" y="2176272"/>
            <a:ext cx="1536192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2027 · 22 clients ; levée seed M15-M18</a:t>
            </a:r>
          </a:p>
        </p:txBody>
      </p:sp>
      <p:sp>
        <p:nvSpPr>
          <p:cNvPr id="22" name="Chevron 21"/>
          <p:cNvSpPr/>
          <p:nvPr/>
        </p:nvSpPr>
        <p:spPr>
          <a:xfrm>
            <a:off x="8778240" y="1463040"/>
            <a:ext cx="1536192" cy="640080"/>
          </a:xfrm>
          <a:prstGeom prst="chevron">
            <a:avLst>
              <a:gd name="adj" fmla="val 35000"/>
            </a:avLst>
          </a:prstGeom>
          <a:solidFill>
            <a:srgbClr val="2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1463040"/>
            <a:ext cx="1078992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Industrialiser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176272"/>
            <a:ext cx="1536192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2028 · 84 clients, 3 agences, dév. salarié</a:t>
            </a:r>
          </a:p>
        </p:txBody>
      </p:sp>
      <p:sp>
        <p:nvSpPr>
          <p:cNvPr id="25" name="Chevron 24"/>
          <p:cNvSpPr/>
          <p:nvPr/>
        </p:nvSpPr>
        <p:spPr>
          <a:xfrm>
            <a:off x="10424159" y="1463040"/>
            <a:ext cx="1536192" cy="640080"/>
          </a:xfrm>
          <a:prstGeom prst="chevron">
            <a:avLst>
              <a:gd name="adj" fmla="val 35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98480" y="1463040"/>
            <a:ext cx="1078992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Étendre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59" y="2176272"/>
            <a:ext cx="1536192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2029 · 170 clients, Shopify, 8 agences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48640" y="320040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5120640"/>
                <a:gridCol w="29260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Jalon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Critère GO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Sinon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Fin phase pré-vente (fév. 2027)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≥ 8 pré-ventes avec acompte ET ≥ 2 logisticiens (dont ≥ 1 hors Planet Aura)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Pivot marque blanche logisticiens ou arrêt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Levée seed (M12-M15)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≥ 20 clients, MRR ≥ 1,8 k€, churn ≤ 2 %, activation ≥ 80 %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Gel des recrutements, financement BPI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Business developer (M25)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MRR ≥ 7 k€ ET ≥ 80 clients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Report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2A7F87"/>
                </a:solidFill>
                <a:latin typeface="Calibri"/>
              </a:rPr>
              <a:t>Pourquoi maintenant : base de boutiques installée, logisticiens qui ouvrent leurs API, plugin existant non adopté = créneau non encore gagné.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STRATÉGIE COMMERCIALE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Stratégie commerciale : segments, canaux, cycle de vente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760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45720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Priorité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Domaines WooCommerce ≥ 10 commandes étrangères/mois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Agences WordPress (≥ 10 domaines clients)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Logisticiens vin (API + payeurs potentiels)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4 (an 2-3)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Shopify / PrestaShop ; Italie, Espagne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Exclu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Sans boutique ; coopératives ; particuliers 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0" y="1463040"/>
          <a:ext cx="50292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13716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Étape du cycle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Délai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Passage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Prospect → contact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J0-J7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30 %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Contact → démo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J7-J21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50 %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Démo → pilote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J21-J35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40 %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Pilote → client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J35-J60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60 %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33A"/>
                          </a:solidFill>
                          <a:latin typeface="Calibri"/>
                        </a:rPr>
                        <a:t>100 prospects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6-8 sem.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33A"/>
                          </a:solidFill>
                          <a:latin typeface="Calibri"/>
                        </a:rPr>
                        <a:t>3,6 clients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66344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Canaux an 1 : réseau terrain du fondateur (hors fichiers Planet Aura), salons, syndicats d'appellation, prospection ciblée (scan technique des sites), contenu « expédier du vin en Europe depuis 2023 ».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Démo de 25 min : chronométrer l'« avant » avec le prospect, montrer l'« après », calculer le gain personnalisé.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STRATÉGIE 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Marketing et événements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4008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554480"/>
                <a:gridCol w="24688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Événement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Dates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Usage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Vinitech-Sifel, Bordeaux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1-3 déc.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Entretiens, agences, logisticiens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Vignerons Indépendants, Paris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10-13 déc. 2026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Entretiens domaines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Millésime Bio, Montpellier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25-27 janv. 2027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Domaines bio (62 % en circuit court)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Wine Paris &amp; Vinexpo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15-17 févr. 2027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Démos maquette, pré-ventes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ProWein, Düsseldorf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7-9 mars 2027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Logisticiens européens (an 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463040"/>
          <a:ext cx="4389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22960"/>
                <a:gridCol w="868680"/>
                <a:gridCol w="8686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 1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 2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 3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Salons &amp; déplacements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5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12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15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Contenus, webinaires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3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6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8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Outils commerciaux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1,5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4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6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Publicité test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4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8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Partenaires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1,5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4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8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33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33A"/>
                          </a:solidFill>
                          <a:latin typeface="Calibri"/>
                        </a:rPr>
                        <a:t>12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33A"/>
                          </a:solidFill>
                          <a:latin typeface="Calibri"/>
                        </a:rPr>
                        <a:t>30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33A"/>
                          </a:solidFill>
                          <a:latin typeface="Calibri"/>
                        </a:rPr>
                        <a:t>45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1">
                <a:solidFill>
                  <a:srgbClr val="5E6673"/>
                </a:solidFill>
                <a:latin typeface="Calibri"/>
              </a:rPr>
              <a:t>* dates à reconfirmer sur les sites officiels. Pas de stand payant en an 1 : la valeur est dans les rendez-vous.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25780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7800"/>
            <a:ext cx="1060704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Signature : « Vos vins passent les frontières. Vos commandes passent toutes seules. 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RÉSEAU COMMERCIAL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Réseau de partenaires et indépendance vis-à-vis de Planet Aura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58521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286000"/>
                <a:gridCol w="22860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Agences web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Logisticiens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Rôle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Recommandent, installent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API + règles d'éligibilité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Gain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20 % récurrent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Expéditions sans intégration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Animation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Kit, certification 2 h, réunion trimestrielle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Comité technique trimestriel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Objectif an 3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8 agences, 35 % des ventes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≥ 3 intégrés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675120" y="1463040"/>
            <a:ext cx="493776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03720" y="160020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A7F87"/>
                </a:solidFill>
                <a:latin typeface="Calibri"/>
              </a:rPr>
              <a:t>INDÉPENDANCE — RÈGLES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196596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Société, code, marque et données détenus par Passavin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Partenariat non exclusif, neutralité d'affichage, préavis API 6 mois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Les 10 intégrations Planet Aura ne sont ni des clients ni des réalisations de Passavin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Aucun fichier client ni document confidentiel de Planet Aura utilisé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Contrat de travail du porteur relu par un avocat (loyauté, PI L113-9, non-concurrence) avant création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5852160" cy="1417320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5394960" cy="1417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Planet Aura : partenaire logistique possible, jamais le seul. ≥ 2 logisticiens avant la levée seed.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L'équipe : un fondateur commercial, un·e CTO à trouver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65760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A7F87"/>
                </a:solidFill>
                <a:latin typeface="Calibri"/>
              </a:rPr>
              <a:t>FONDATEUR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14233A"/>
                </a:solidFill>
                <a:latin typeface="Calibri"/>
              </a:rPr>
              <a:t>[Nom Prénom], CEO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3200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Commercial dans le transport de vin pour particuliers à l'international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Rôle : vente, partenariats, produit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À acquérir : finance de SAS, product management, contrats SaaS &amp; RGPD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480560" y="1463040"/>
          <a:ext cx="71323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23774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Profil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Statut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CTO / associé·e technique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33A"/>
                          </a:solidFill>
                          <a:latin typeface="Calibri"/>
                        </a:rPr>
                        <a:t>MANQUANT — priorité n°1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10-30 % du capital, vesting 4 ans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Développement MVP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À contractualiser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Freelance 60 j, références WooCommerce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Développeur·se full-stack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Recrutement M13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≈ 70 k€ chargé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Alternant·e marketing-sales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Recrutement M13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≈ 12 k€ net d'aides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Business developer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M25 si MRR ≥ 7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≈ 62 k€ chargé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Avocat, comptable, CPI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Prestataires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≈ 10 k€ an 1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4480560" y="5212080"/>
            <a:ext cx="7132320" cy="731520"/>
          </a:xfrm>
          <a:prstGeom prst="roundRect">
            <a:avLst>
              <a:gd name="adj" fmla="val 8000"/>
            </a:avLst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5212080"/>
            <a:ext cx="667512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Aucun associé, diplôme ou compétence n'a été inventé : les profils manquants sont affichés comme tels.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ÉQUIPE — ORGANIGRAMME ÉVOLUTIF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Organisation et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2A7F87"/>
                </a:solidFill>
                <a:latin typeface="Calibri"/>
              </a:rPr>
              <a:t>AN 1 · 2027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3474720" cy="384048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29184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CEO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40280"/>
            <a:ext cx="347472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40280"/>
            <a:ext cx="329184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14233A"/>
                </a:solidFill>
                <a:latin typeface="Calibri"/>
              </a:rPr>
              <a:t>Freelance MVP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97480"/>
            <a:ext cx="347472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329184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14233A"/>
                </a:solidFill>
                <a:latin typeface="Calibri"/>
              </a:rPr>
              <a:t>[CTO associé·e ?]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54680"/>
            <a:ext cx="347472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54680"/>
            <a:ext cx="329184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14233A"/>
                </a:solidFill>
                <a:latin typeface="Calibri"/>
              </a:rPr>
              <a:t>Avocat · comptable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79" y="141732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2A7F87"/>
                </a:solidFill>
                <a:latin typeface="Calibri"/>
              </a:rPr>
              <a:t>AN 2 · 2028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1783080"/>
            <a:ext cx="3474720" cy="384048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1783080"/>
            <a:ext cx="329184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CEO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2240280"/>
            <a:ext cx="347472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2240280"/>
            <a:ext cx="329184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14233A"/>
                </a:solidFill>
                <a:latin typeface="Calibri"/>
              </a:rPr>
              <a:t>Développeur·se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79" y="2697480"/>
            <a:ext cx="347472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2697480"/>
            <a:ext cx="329184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14233A"/>
                </a:solidFill>
                <a:latin typeface="Calibri"/>
              </a:rPr>
              <a:t>Alternant·e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3154680"/>
            <a:ext cx="347472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3154680"/>
            <a:ext cx="329184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14233A"/>
                </a:solidFill>
                <a:latin typeface="Calibri"/>
              </a:rPr>
              <a:t>3 agences · 2-3 logisticiens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19" y="141732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 i="0">
                <a:solidFill>
                  <a:srgbClr val="2A7F87"/>
                </a:solidFill>
                <a:latin typeface="Calibri"/>
              </a:rPr>
              <a:t>AN 3 · 2029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1783080"/>
            <a:ext cx="3474720" cy="384048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1783080"/>
            <a:ext cx="329184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CEO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19" y="2240280"/>
            <a:ext cx="347472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59" y="2240280"/>
            <a:ext cx="329184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14233A"/>
                </a:solidFill>
                <a:latin typeface="Calibri"/>
              </a:rPr>
              <a:t>CTO / dév. senior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2697480"/>
            <a:ext cx="347472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59" y="2697480"/>
            <a:ext cx="329184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14233A"/>
                </a:solidFill>
                <a:latin typeface="Calibri"/>
              </a:rPr>
              <a:t>Business developer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19" y="3154680"/>
            <a:ext cx="347472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59" y="3154680"/>
            <a:ext cx="329184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14233A"/>
                </a:solidFill>
                <a:latin typeface="Calibri"/>
              </a:rPr>
              <a:t>Support (ex-alternant·e)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19" y="3611880"/>
            <a:ext cx="3474720" cy="3840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59" y="3611880"/>
            <a:ext cx="329184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0" i="0">
                <a:solidFill>
                  <a:srgbClr val="14233A"/>
                </a:solidFill>
                <a:latin typeface="Calibri"/>
              </a:rPr>
              <a:t>8 agences · ≥ 3 logisticiens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548640" y="42062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377440"/>
                <a:gridCol w="44805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Méthode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Rythme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Objectif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Point d'équipe + revue pipeline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Hebdomadaire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Alignement, prévision des signatures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Sprint produit / revue KPI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 semaines / mensuelle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Livrer par incréments, décider sur indicateurs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1-to-1, OKR trimestriels, management situationnel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Mensuel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Motivation : variable sur MRR net, BSPCE 10 %, formation 1 k€/an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BUSINESS PLAN — DÉMONSTRATION N°1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Business plan : chaque client vient d'une ressource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0350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280160"/>
                <a:gridCol w="1554480"/>
                <a:gridCol w="15544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 1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 2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 3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Nouveaux clients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Produits par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CEO + pré-ventes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CEO + alternant·e + 3 agences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+ business developer + 8 agences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Clients actifs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ARR fin d'année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23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90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181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12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30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45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cl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417320"/>
            <a:ext cx="4937760" cy="26365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5E6673"/>
                </a:solidFill>
                <a:latin typeface="Calibri"/>
              </a:rPr>
              <a:t>Formule : Clients(m) = Clients(m−1) × (1 − 1,5 %) + Nouveaux(m). Productivité : ≈ 4 signatures/mois par commercial à temps plein (20 démos × 20 %). Hypothèses : annexes/BP_3ans.xlsx.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BUSINESS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Compte de résultat prévisionnel — scénario central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24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60350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60"/>
                <a:gridCol w="1280160"/>
                <a:gridCol w="1280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€ HT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2029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CA total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22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115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230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dont abonnements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7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60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141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dont frais logisticiens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20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47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20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98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189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Développement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50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12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12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Salaires chargés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0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124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204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Autres charges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29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50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71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33A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-58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-88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-98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ca_ebit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4937760" cy="244635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8640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486400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Lecture honnête : pas de rentabilité sur 3 ans en central. Point mort mensuel vers M40-M42 avec ~210 clients actifs.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BUSINESS PLAN — VIABILITÉ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Scénarios, seuil de rentabilité, trésorerie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60350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71600"/>
                <a:gridCol w="1371600"/>
                <a:gridCol w="13716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 2029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Pessimiste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Central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Optimiste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Clients actifs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273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ARR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73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181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325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EBITDA an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-156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-98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44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Point mort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non atteint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≈ M40-42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M28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Clients au point mort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≈ 222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≈ 210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≈ 195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resor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4937760" cy="2586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526280"/>
            <a:ext cx="11064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Seuil = charges fixes M36 (≈ 23,9 k€/mois) / contribution par client (114 €) ≈ 210 clients ; 284 sans revenu logisticien.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Conditions : ≥ 1 logisticien payant · churn ≤ 1,5 % · ARPA ≥ 85 € · ≥ 30 % des ventes via agences · recrutements par jalons · services ≤ 15 %.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33A"/>
                </a:solidFill>
                <a:latin typeface="Calibri"/>
              </a:rPr>
              <a:t>• En pessimiste, le besoin dépasse 295 k€ sans perspective de point mort : on arrête ou on pivote (décision prise à l'avance).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BUSINESS PLAN — BESOIN FINANCIER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Besoin de financement et affectation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58368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188720"/>
                <a:gridCol w="18288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Montant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Moment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Statut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Apport fondateur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10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À confirmer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Prêt d'honneur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30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M0-M2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Hypothèse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Bourse French Tech BPI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30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M2-M4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Éligibilité non garantie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Prêt bancaire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50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Hypothèse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33A"/>
                          </a:solidFill>
                          <a:latin typeface="Calibri"/>
                        </a:rPr>
                        <a:t>Tranche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33A"/>
                          </a:solidFill>
                          <a:latin typeface="Calibri"/>
                        </a:rPr>
                        <a:t>120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Validation + MVP + an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Business angels / seed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200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M15-M18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Si jalons atteints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33A"/>
                          </a:solidFill>
                          <a:latin typeface="Calibri"/>
                        </a:rPr>
                        <a:t>Total 3 ans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33A"/>
                          </a:solidFill>
                          <a:latin typeface="Calibri"/>
                        </a:rPr>
                        <a:t>320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498079" y="1463040"/>
            <a:ext cx="4114800" cy="54864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1965960"/>
            <a:ext cx="41148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40 % · Produit &amp; développement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2240280"/>
            <a:ext cx="3086100" cy="548640"/>
          </a:xfrm>
          <a:prstGeom prst="rect">
            <a:avLst/>
          </a:prstGeom>
          <a:solidFill>
            <a:srgbClr val="2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2743200"/>
            <a:ext cx="41148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30 % · Équipe commerciale &amp; partenaires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3017520"/>
            <a:ext cx="1543050" cy="54864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3520440"/>
            <a:ext cx="41148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15 % · Marketing &amp; salons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3794760"/>
            <a:ext cx="514350" cy="548640"/>
          </a:xfrm>
          <a:prstGeom prst="rect">
            <a:avLst/>
          </a:prstGeom>
          <a:solidFill>
            <a:srgbClr val="5E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4297680"/>
            <a:ext cx="41148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5 % · Juridique, marque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4572000"/>
            <a:ext cx="1028700" cy="548640"/>
          </a:xfrm>
          <a:prstGeom prst="rect">
            <a:avLst/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5074920"/>
            <a:ext cx="41148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0">
                <a:solidFill>
                  <a:srgbClr val="14233A"/>
                </a:solidFill>
                <a:latin typeface="Calibri"/>
              </a:rPr>
              <a:t>10 % · Réserve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64240" cy="640080"/>
          </a:xfrm>
          <a:prstGeom prst="roundRect">
            <a:avLst>
              <a:gd name="adj" fmla="val 8000"/>
            </a:avLst>
          </a:prstGeom>
          <a:solidFill>
            <a:srgbClr val="14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486400"/>
            <a:ext cx="106070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Trésorerie minimale central sans levée : -164 k€ (M36) → la seed de 200 k€ couvre le creux jusqu'au point mort, avec ~20 k€ de marge.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RISQUES — DÉMONSTRATION N°2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Risques évalués et justifiés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"/>
                <a:gridCol w="457200"/>
                <a:gridCol w="640080"/>
                <a:gridCol w="3474720"/>
                <a:gridCol w="292608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Risque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Crit.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Prévention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Plan B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Les domaines ne paient pas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33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Pré-ventes avec acompte avant MVP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Marque blanche logisticiens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Trésorerie négative avant la seed (≈ M17)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33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Levée préparée dès M12, embauches par jalons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Gel embauches, prêt BPI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Concurrent gratuit (logisticien, agrégateur)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33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Neutralité, multi-logisticiens, agences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Devenir leur fournisseur technique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Pas de CTO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33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Recherche active, code documenté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CTO à temps partagé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Revenu logisticien non obtenu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33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Test phase 1, scénario chiffré sans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ARPA Pro par défaut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Dérive vers le sur-mesure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4233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Plafond 15 % du CA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Renvoi vers agences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Retrait d'une API logisticien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Préavis 6 mois, ≥ 2 puis 3 logisticiens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Mode dégradé CSV/PDF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Conflit avec l'employeur actuel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Avocat, accord écrit, code repris de zéro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Différer la création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Commande vers pays non conforme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Règles garanties par logisticien, US exclus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Blocage manuel, RC pro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1">
                <a:solidFill>
                  <a:srgbClr val="5E6673"/>
                </a:solidFill>
                <a:latin typeface="Calibri"/>
              </a:rPr>
              <a:t>P = probabilité, I = impact (1-4). Les risques critiques sont commerciaux et financiers, pas techniques : on teste la demande avant de coder.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TABLEAUX DE BORD — DÉMONSTRATION N°3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Tableau de bord : un KPI par objectif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28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17520"/>
                <a:gridCol w="2194560"/>
                <a:gridCol w="2011680"/>
                <a:gridCol w="201168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KPI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Formule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Cible 2027 / 28 / 29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Fréquence · resp.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 écart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Nouveaux clients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Signatures sur la période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22 / 72 / 108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Hebdo · CEO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Canaux, démos, agences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Σ abonnements actifs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1,9 / 7,5 / 15,1 k€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Mensuel · CEO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Upsell Pro, prix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Churn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Perdus / clients début de mois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≤ 1,5 %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Mensuel · support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Entretien de départ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Activation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1ʳᵉ commande &lt; 14 j / nouveaux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≥ 80 %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Mensuel · support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Onboarding J+3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CAC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Coûts d'acquisition / nouveaux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≤ 0,6 / 0,8 / 1,3 k€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Trimestriel · CEO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Couper le canal cher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Part via agences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Clients agences / nouveaux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0 / 20 / 35 %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Trimestriel · biz dev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Commission Gold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Marge brute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(CA − variables) / 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≥ 80 %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Mensuel · CEO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Hébergement, support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NPS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% promoteurs − % détracteurs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≥ 30 / 40 / 45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Trimestriel · support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Feuille de route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Runway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Trésorerie / burn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≥ 6 mois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Mensuel · CEO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4233A"/>
                          </a:solidFill>
                          <a:latin typeface="Calibri"/>
                        </a:rPr>
                        <a:t>Levée / économies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 i="1">
                <a:solidFill>
                  <a:srgbClr val="5E6673"/>
                </a:solidFill>
                <a:latin typeface="Calibri"/>
              </a:rPr>
              <a:t>Cibles identiques au business plan (scénario central). Tableau complet (26 KPI) : annexes.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PLAN DE VALIDATION COMMERCIALE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Validation : les seuils sont fixés avant de commencer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29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1828800"/>
                <a:gridCol w="1828800"/>
                <a:gridCol w="18288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Indicateur (objectif proposé)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Revoir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 marL="54864" marR="54864" marT="27432" marB="27432" anchor="ctr">
                    <a:solidFill>
                      <a:srgbClr val="14233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Douleur citée spontanément (top 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≥ 40 %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20-40 %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&lt; 20 %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Domaines WooCommerce ≥ 10 commandes étrangères/mois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≥ 30 %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15-30 %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&lt; 15 %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Temps mesuré par commande étrangère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≥ 8 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4-8 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&lt; 4 min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Prix acceptable médian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≥ 49 €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25-49 €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&lt; 25 €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33A"/>
                          </a:solidFill>
                          <a:latin typeface="Calibri"/>
                        </a:rPr>
                        <a:t>Pré-ventes avec acompte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33A"/>
                          </a:solidFill>
                          <a:latin typeface="Calibri"/>
                        </a:rPr>
                        <a:t>≥ 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4-7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&lt;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33A"/>
                          </a:solidFill>
                          <a:latin typeface="Calibri"/>
                        </a:rPr>
                        <a:t>Logisticiens prêts à signer (≥ 1 hors Planet Aura)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4233A"/>
                          </a:solidFill>
                          <a:latin typeface="Calibri"/>
                        </a:rPr>
                        <a:t>≥ 2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233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AF7F1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89204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2A7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892040"/>
            <a:ext cx="106070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Coût du test : ≈ 3 mois, &lt; 8 k€ (25 entretiens domaines, 5 agences, 4 logisticiens, maquette cliquable, test de prix). Question n°1 : pourquoi le plugin Hillebrand Gori n'est-il pas adopté 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C2F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 i="0">
                <a:solidFill>
                  <a:srgbClr val="2A7F87"/>
                </a:solidFill>
                <a:latin typeface="Calibri"/>
              </a:rPr>
              <a:t>ANNEXES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 i="0">
                <a:solidFill>
                  <a:srgbClr val="14233A"/>
                </a:solidFill>
                <a:latin typeface="Calibri"/>
              </a:rPr>
              <a:t>Sources, hypothèses non validées et annexes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900" b="0" i="0">
                <a:solidFill>
                  <a:srgbClr val="5E6673"/>
                </a:solidFill>
                <a:latin typeface="Calibri"/>
              </a:rPr>
              <a:t>PASSAVIN · nom de travail provisoire · Dossier Bloc 3 · [Nom Prénom]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5E6673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4233A"/>
                </a:solidFill>
                <a:latin typeface="Calibri"/>
              </a:rPr>
              <a:t>• Sources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33A"/>
                </a:solidFill>
                <a:latin typeface="Calibri"/>
              </a:rPr>
              <a:t>• INSEE/Agreste RA 2020 ; Agreste Primeur 2023 ; FranceAgriMer fiche vin 2026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33A"/>
                </a:solidFill>
                <a:latin typeface="Calibri"/>
              </a:rPr>
              <a:t>• FEVS via LSA/Pleinchamp (2025-2026) ; Xerfi 2021-2026 ; Afnic déc. 2025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33A"/>
                </a:solidFill>
                <a:latin typeface="Calibri"/>
              </a:rPr>
              <a:t>• Commission européenne ; douane.gouv.fr ; gov.uk ; UPS, FedEx, La Poste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33A"/>
                </a:solidFill>
                <a:latin typeface="Calibri"/>
              </a:rPr>
              <a:t>• wordpress.org, sites et grilles des concurrents (oct. 2026)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33A"/>
                </a:solidFill>
                <a:latin typeface="Calibri"/>
              </a:rPr>
              <a:t>• TMview / RDAP / API recherche-entreprises (nom)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212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4233A"/>
                </a:solidFill>
                <a:latin typeface="Calibri"/>
              </a:rPr>
              <a:t>• Non validé à ce jour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33A"/>
                </a:solidFill>
                <a:latin typeface="Calibri"/>
              </a:rPr>
              <a:t>• Aucun client, aucun pré-contrat, aucun accord logisticien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33A"/>
                </a:solidFill>
                <a:latin typeface="Calibri"/>
              </a:rPr>
              <a:t>• Part WooCommerce et export particuliers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33A"/>
                </a:solidFill>
                <a:latin typeface="Calibri"/>
              </a:rPr>
              <a:t>• Temps de ressaisie, prix acceptable, churn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33A"/>
                </a:solidFill>
                <a:latin typeface="Calibri"/>
              </a:rPr>
              <a:t>• Revenu logisticien (1,50 €/expédition)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33A"/>
                </a:solidFill>
                <a:latin typeface="Calibri"/>
              </a:rPr>
              <a:t>• Disponibilité juridique du nom Passavin (recherche CPI à faire)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14233A"/>
                </a:solidFill>
                <a:latin typeface="Calibri"/>
              </a:rPr>
              <a:t>• Annexes fournies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33A"/>
                </a:solidFill>
                <a:latin typeface="Calibri"/>
              </a:rPr>
              <a:t>• BP_3ans.xlsx (hypothèses, mensuel × 3 scénarios)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4233A"/>
                </a:solidFill>
                <a:latin typeface="Calibri"/>
              </a:rPr>
              <a:t>• Étude complète (docs/01 à 11)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